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2c7086f-9966-db54-7dc0-d9dfa3eb95d0}">
          <p14:sldIdLst>
            <p14:sldId id="256"/>
          </p14:sldIdLst>
        </p14:section>
        <p14:section name="문제와 해결" id="{f9c35641-9888-a405-841d-ad53aef22ee3}">
          <p14:sldIdLst>
            <p14:sldId id="257"/>
            <p14:sldId id="258"/>
          </p14:sldIdLst>
        </p14:section>
        <p14:section name="Agent" id="{4b2db95c-4cd5-0894-8dcf-7fd4b51eb570}">
          <p14:sldIdLst>
            <p14:sldId id="259"/>
            <p14:sldId id="260"/>
          </p14:sldIdLst>
        </p14:section>
        <p14:section name="시연과 성과" id="{c4f03d3e-ab23-199c-3a01-d94155b9e62b}">
          <p14:sldIdLst>
            <p14:sldId id="261"/>
            <p14:sldId id="262"/>
            <p14:sldId id="263"/>
          </p14:sldIdLst>
        </p14:section>
        <p14:section name="마무리" id="{672d3ac4-6cc8-f083-f4f4-779f4ab1ce52}">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업무 막힘 시작 후 경과 시간 (시간)</a:t>
            </a:r>
          </a:p>
        </c:rich>
      </c:tx>
      <c:layout/>
      <c:overlay val="0"/>
    </c:title>
    <c:autoTitleDeleted val="0"/>
    <c:plotArea>
      <c:layout/>
      <c:barChart>
        <c:barDir val="bar"/>
        <c:grouping val="clustered"/>
        <c:varyColors val="0"/>
        <c:ser>
          <c:idx val="0"/>
          <c:order val="0"/>
          <c:tx>
            <c:strRef>
              <c:f>Sheet1!$B$1</c:f>
              <c:strCache>
                <c:ptCount val="1"/>
                <c:pt idx="0">
                  <c:v>Before: 주간 회의에서 첫 언급</c:v>
                </c:pt>
              </c:strCache>
            </c:strRef>
          </c:tx>
          <c:spPr>
            <a:solidFill>
              <a:srgbClr val="8794A3"/>
            </a:solidFill>
            <a:effectLst/>
          </c:spPr>
          <c:invertIfNegative val="0"/>
          <c:dLbls>
            <c:numFmt formatCode="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웹훅 서명</c:v>
                  </c:pt>
                  <c:pt idx="1">
                    <c:v>택배사 키</c:v>
                  </c:pt>
                  <c:pt idx="2">
                    <c:v>사유 기준</c:v>
                  </c:pt>
                  <c:pt idx="3">
                    <c:v>정산 스키마</c:v>
                  </c:pt>
                  <c:pt idx="4">
                    <c:v>롤백 리허설</c:v>
                  </c:pt>
                  <c:pt idx="5">
                    <c:v>지도 화면</c:v>
                  </c:pt>
                </c:lvl>
              </c:multiLvlStrCache>
            </c:multiLvlStrRef>
          </c:cat>
          <c:val>
            <c:numRef>
              <c:f>Sheet1!$B$2:$B$7</c:f>
              <c:numCache>
                <c:formatCode>General</c:formatCode>
                <c:ptCount val="6"/>
                <c:pt idx="0">
                  <c:v>137.9</c:v>
                </c:pt>
                <c:pt idx="1">
                  <c:v>121.6</c:v>
                </c:pt>
                <c:pt idx="2">
                  <c:v>95.3</c:v>
                </c:pt>
                <c:pt idx="3">
                  <c:v>91.7</c:v>
                </c:pt>
                <c:pt idx="4">
                  <c:v>88.4</c:v>
                </c:pt>
                <c:pt idx="5">
                  <c:v>72.4</c:v>
                </c:pt>
              </c:numCache>
            </c:numRef>
          </c:val>
        </c:ser>
        <c:ser>
          <c:idx val="1"/>
          <c:order val="1"/>
          <c:tx>
            <c:strRef>
              <c:f>Sheet1!$C$1</c:f>
              <c:strCache>
                <c:ptCount val="1"/>
                <c:pt idx="0">
                  <c:v>After: Agent가 확정</c:v>
                </c:pt>
              </c:strCache>
            </c:strRef>
          </c:tx>
          <c:spPr>
            <a:solidFill>
              <a:srgbClr val="E8963A"/>
            </a:solidFill>
            <a:effectLst/>
          </c:spPr>
          <c:invertIfNegative val="0"/>
          <c:dLbls>
            <c:numFmt formatCode="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웹훅 서명</c:v>
                  </c:pt>
                  <c:pt idx="1">
                    <c:v>택배사 키</c:v>
                  </c:pt>
                  <c:pt idx="2">
                    <c:v>사유 기준</c:v>
                  </c:pt>
                  <c:pt idx="3">
                    <c:v>정산 스키마</c:v>
                  </c:pt>
                  <c:pt idx="4">
                    <c:v>롤백 리허설</c:v>
                  </c:pt>
                  <c:pt idx="5">
                    <c:v>지도 화면</c:v>
                  </c:pt>
                </c:lvl>
              </c:multiLvlStrCache>
            </c:multiLvlStrRef>
          </c:cat>
          <c:val>
            <c:numRef>
              <c:f>Sheet1!$C$2:$C$7</c:f>
              <c:numCache>
                <c:formatCode>General</c:formatCode>
                <c:ptCount val="6"/>
                <c:pt idx="0">
                  <c:v>77.3</c:v>
                </c:pt>
                <c:pt idx="1">
                  <c:v>60.8</c:v>
                </c:pt>
                <c:pt idx="2">
                  <c:v>70.4</c:v>
                </c:pt>
                <c:pt idx="3">
                  <c:v>66.8</c:v>
                </c:pt>
                <c:pt idx="4">
                  <c:v>75.6</c:v>
                </c:pt>
                <c:pt idx="5">
                  <c:v>36.4</c:v>
                </c:pt>
              </c:numCache>
            </c:numRef>
          </c:val>
        </c:ser>
        <c:dLbls>
          <c:numFmt formatCode="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b"/>
        <c:majorGridlines>
          <c:spPr>
            <a:ln w="6350" cap="flat">
              <a:solidFill>
                <a:srgbClr val="D9E2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794A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정확도 (%) · 답장 46건, 평가 항목 15개</a:t>
            </a:r>
          </a:p>
        </c:rich>
      </c:tx>
      <c:layout/>
      <c:overlay val="0"/>
    </c:title>
    <c:autoTitleDeleted val="0"/>
    <c:plotArea>
      <c:layout/>
      <c:barChart>
        <c:barDir val="col"/>
        <c:grouping val="clustered"/>
        <c:varyColors val="0"/>
        <c:ser>
          <c:idx val="0"/>
          <c:order val="0"/>
          <c:tx>
            <c:strRef>
              <c:f>Sheet1!$B$1</c:f>
              <c:strCache>
                <c:ptCount val="1"/>
                <c:pt idx="0">
                  <c:v>규칙(키워드)</c:v>
                </c:pt>
              </c:strCache>
            </c:strRef>
          </c:tx>
          <c:spPr>
            <a:solidFill>
              <a:srgbClr val="8794A3"/>
            </a:solidFill>
            <a:effectLst/>
          </c:spPr>
          <c:invertIfNegative val="0"/>
          <c:dLbls>
            <c:numFmt formatCode="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답장 의미 해석</c:v>
                  </c:pt>
                  <c:pt idx="1">
                    <c:v>업무 막힘 판정</c:v>
                  </c:pt>
                  <c:pt idx="2">
                    <c:v>모든 기준 충족</c:v>
                  </c:pt>
                </c:lvl>
              </c:multiLvlStrCache>
            </c:multiLvlStrRef>
          </c:cat>
          <c:val>
            <c:numRef>
              <c:f>Sheet1!$B$2:$B$4</c:f>
              <c:numCache>
                <c:formatCode>General</c:formatCode>
                <c:ptCount val="3"/>
                <c:pt idx="0">
                  <c:v>67</c:v>
                </c:pt>
                <c:pt idx="1">
                  <c:v>67</c:v>
                </c:pt>
                <c:pt idx="2">
                  <c:v>40</c:v>
                </c:pt>
              </c:numCache>
            </c:numRef>
          </c:val>
        </c:ser>
        <c:ser>
          <c:idx val="1"/>
          <c:order val="1"/>
          <c:tx>
            <c:strRef>
              <c:f>Sheet1!$C$1</c:f>
              <c:strCache>
                <c:ptCount val="1"/>
                <c:pt idx="0">
                  <c:v>LLM (Qwen3 32B)</c:v>
                </c:pt>
              </c:strCache>
            </c:strRef>
          </c:tx>
          <c:spPr>
            <a:solidFill>
              <a:srgbClr val="E8963A"/>
            </a:solidFill>
            <a:effectLst/>
          </c:spPr>
          <c:invertIfNegative val="0"/>
          <c:dLbls>
            <c:numFmt formatCode="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답장 의미 해석</c:v>
                  </c:pt>
                  <c:pt idx="1">
                    <c:v>업무 막힘 판정</c:v>
                  </c:pt>
                  <c:pt idx="2">
                    <c:v>모든 기준 충족</c:v>
                  </c:pt>
                </c:lvl>
              </c:multiLvlStrCache>
            </c:multiLvlStrRef>
          </c:cat>
          <c:val>
            <c:numRef>
              <c:f>Sheet1!$C$2:$C$4</c:f>
              <c:numCache>
                <c:formatCode>General</c:formatCode>
                <c:ptCount val="3"/>
                <c:pt idx="0">
                  <c:v>96</c:v>
                </c:pt>
                <c:pt idx="1">
                  <c:v>80</c:v>
                </c:pt>
                <c:pt idx="2">
                  <c:v>67</c:v>
                </c:pt>
              </c:numCache>
            </c:numRef>
          </c:val>
        </c:ser>
        <c:dLbls>
          <c:numFmt formatCode="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ContriLog는 팀 업무 정체 탐지·지원 AI Agent입니다. 팀의 공유 기록을 스스로 관찰해 막힌 업무를 주간 회의보다 먼저 찾고, 담당자에게 확인한 뒤, 팀장의 승인을 받아 도울 수 있는 팀원을 연결하는 AI Team Manager입니다. 사람을 평가하지 않고, 판단 근거와 필요한 개입만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팀장은 회의록, 공동문서, Task 기록을 일일이 봐야 현황을 압니다. 평가 데이터에서 막힌 업무는 시작 후 평균 101시간, 4일 넘게 지나서야 주간 회의에서 드러났습니다. 그렇다고 '기록이 없으면 정체'라고 단정하면 로컬이나 다른 도구에서 일하는 사람을 오탐합니다.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핵심기능은 다섯 가지이고, 보조 기능으로 팀원의 기여 주장을 기록과 대조해 근거를 정리하는 Claim 검증이 있습니다(기여 주장 13건을 나눈 atomic claim 15건 모두 정답과 일치). 후보 탐지, 확인 질문과 LLM 답장 해석, 근거 기반 지원자 제안, 사람 승인 후 실행과 후속 관찰, 그리고 Agent 자신의 판단 결과를 기억하는 Memory입니다. 사람에 대한 점수나 순위는 만들지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Agent는 12시간마다 Tool로만 프로젝트를 관찰합니다. 후보가 생기면 담당자에게 묻고, 로컬에서 돌아가는 Qwen3 LLM이 답장을 해석합니다. 막힘이면 업무 막힘을 확정하고 지원자를 찾아 제안하지만, 전송은 PM이 승인해야만 됩니다. 이후 실제 수정 기록이 보여야 해결로 닫고, 결과는 Memory에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대회 규정의 AI Agent 요소 여섯 가지를 모두 실제 동작으로 구현했습니다. 특히 판단은 LLM과 규칙이 나눠 맡고, 결과 확인은 실제 수정 기록으로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영상에서는 P002 프로젝트의 웹훅 서명 오류를 처음부터 끝까지 보여 줍니다. 기록이 끊긴 지 94시간 뒤 후보가 되고, 담당자의 답장을 LLM이 막힘으로 해석합니다. Agent는 게이트웨이 설정 기록이 있는 동료를 제안하고, 웹 화면에서 PM이 승인 버튼을 누른 뒤에만 요청이 나갑니다. 지원 수락만으로는 닫지 않고, 실제 수정 리비전을 확인한 뒤에 해결로 기록합니다.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Before/After 결과입니다. 주간 회의에서 업무 막힘이 처음 언급된 시점(Before)과 Agent가 담당자 확인 후 업무 막힘을 확정한 시점(After)을 비교했습니다. 둘 다 찾은 6건에서 평균 101.2시간과 64.5시간으로, 업무 막힘을 평균 36.7시간 먼저 확정했습니다. synthetic replay 기준이며 업무시간을 측정한 값은 아닙니다. 응답이 없는 업무 막힘과 공동 담당자의 업무 막힘 2건은 놓쳤습니다.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키워드 규칙은 '0건'을 막힘으로, '문제 없을 줄 알았는데'를 정상으로 읽었습니다. 로컬 LLM으로 바꾸자 답장 해석이 67%에서 96%로, 모든 기준을 만족한 평가 항목이 15개 중 6개에서 10개로 늘었습니다. 프롬프트에는 범주 정의만 넣고 평가 데이터의 표현은 넣지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ContriLog는 사람을 평가하지 않습니다. 개인 DM은 볼 수 없고, LLM은 사내 서버에서 돌아 기록이 밖으로 나가지 않습니다. 사람 승인 없이는 아무 개입도 실행되지 않습니다. 한계도 분명합니다. 응답이 없는 업무 막힘과 공동 담당자의 업무 막힘을 놓쳤고, 지원자 선정과 해결 판정은 아직 단어에 의존합니다. Memory는 질문을 줄이지만 업무 막힘 1건을 추가로 놓쳤고, Qwen3도 답장 46건 중 2건을 잘못 해석했습니다.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단계는 응답 없는 후보 재확인과 공동 담당자 확인, 그리고 해결 판정에도 LLM을 적용하는 것입니다. 사업 모델은 협업 도구와 연동한 팀 단위 구독, 그리고 기록을 외부로 보내지 않는 온프레미스 라이선스입니다.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423160"/>
            <a:ext cx="80467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914400"/>
          </a:xfrm>
          <a:prstGeom prst="rect">
            <a:avLst/>
          </a:prstGeom>
          <a:noFill/>
          <a:ln/>
        </p:spPr>
        <p:txBody>
          <a:bodyPr wrap="square" rtlCol="0" anchor="b"/>
          <a:lstStyle/>
          <a:p>
            <a:pPr algn="l" indent="0" marL="0">
              <a:buNone/>
            </a:pPr>
            <a:r>
              <a:rPr lang="en-US" sz="4000" b="1" dirty="0">
                <a:solidFill>
                  <a:schemeClr val="bg1"/>
                </a:solidFill>
              </a:rPr>
              <a:t>ContriLog</a:t>
            </a:r>
            <a:endParaRPr lang="en-US" sz="4000" dirty="0"/>
          </a:p>
        </p:txBody>
      </p:sp>
      <p:sp>
        <p:nvSpPr>
          <p:cNvPr id="3" name="Text 0"/>
          <p:cNvSpPr/>
          <p:nvPr>
            <p:ph idx="101" type="body" hasCustomPrompt="1"/>
          </p:nvPr>
        </p:nvSpPr>
        <p:spPr>
          <a:xfrm>
            <a:off x="548640" y="2423160"/>
            <a:ext cx="8046720" cy="914400"/>
          </a:xfrm>
          <a:prstGeom prst="rect">
            <a:avLst/>
          </a:prstGeom>
          <a:noFill/>
          <a:ln/>
        </p:spPr>
        <p:txBody>
          <a:bodyPr wrap="square" rtlCol="0" anchor="t"/>
          <a:lstStyle/>
          <a:p>
            <a:pPr indent="0" marL="0">
              <a:buNone/>
            </a:pPr>
            <a:r>
              <a:rPr lang="en-US" sz="1800" dirty="0">
                <a:solidFill>
                  <a:schemeClr val="bg2"/>
                </a:solidFill>
              </a:rPr>
              <a:t>팀 업무 정체 탐지·지원 AI Agent</a:t>
            </a:r>
            <a:endParaRPr lang="en-US" sz="1800" dirty="0"/>
          </a:p>
        </p:txBody>
      </p:sp>
      <p:sp>
        <p:nvSpPr>
          <p:cNvPr id="4" name="Text 2"/>
          <p:cNvSpPr txBox="1"/>
          <p:nvPr/>
        </p:nvSpPr>
        <p:spPr>
          <a:xfrm>
            <a:off x="548640" y="4206240"/>
            <a:ext cx="8046720" cy="365760"/>
          </a:xfrm>
          <a:prstGeom prst="rect">
            <a:avLst/>
          </a:prstGeom>
          <a:noFill/>
          <a:ln/>
        </p:spPr>
        <p:txBody>
          <a:bodyPr wrap="square" lIns="0" tIns="0" rIns="0" bIns="0" rtlCol="0" anchor="t"/>
          <a:lstStyle/>
          <a:p>
            <a:pPr indent="0" marL="0">
              <a:buNone/>
            </a:pPr>
            <a:r>
              <a:rPr lang="en-US" sz="1200" dirty="0">
                <a:solidFill>
                  <a:schemeClr val="accent6"/>
                </a:solidFill>
              </a:rPr>
              <a:t>제4회 경남AI·SW경진대회 · ② 업무혁신·생산성 향상 AI Agent · (팀명)</a:t>
            </a:r>
            <a:endParaRPr lang="en-US" sz="1200" dirty="0"/>
          </a:p>
        </p:txBody>
      </p:sp>
      <p:sp>
        <p:nvSpPr>
          <p:cNvPr id="5" name="motif-0"/>
          <p:cNvSpPr/>
          <p:nvPr/>
        </p:nvSpPr>
        <p:spPr>
          <a:xfrm>
            <a:off x="548640" y="502920"/>
            <a:ext cx="685800" cy="685800"/>
          </a:xfrm>
          <a:prstGeom prst="ellipse">
            <a:avLst/>
          </a:prstGeom>
          <a:solidFill>
            <a:schemeClr val="accent5"/>
          </a:solidFill>
          <a:ln w="12700">
            <a:solidFill>
              <a:schemeClr val="accent5"/>
            </a:solidFill>
            <a:prstDash val="solid"/>
          </a:ln>
        </p:spPr>
      </p:sp>
      <p:sp>
        <p:nvSpPr>
          <p:cNvPr id="6" name="Text 4"/>
          <p:cNvSpPr txBox="1"/>
          <p:nvPr/>
        </p:nvSpPr>
        <p:spPr>
          <a:xfrm>
            <a:off x="548640" y="502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관찰</a:t>
            </a:r>
            <a:endParaRPr lang="en-US" sz="1400" dirty="0"/>
          </a:p>
        </p:txBody>
      </p:sp>
      <p:sp>
        <p:nvSpPr>
          <p:cNvPr id="7" name="motif-1"/>
          <p:cNvSpPr/>
          <p:nvPr/>
        </p:nvSpPr>
        <p:spPr>
          <a:xfrm>
            <a:off x="1508760" y="502920"/>
            <a:ext cx="685800" cy="685800"/>
          </a:xfrm>
          <a:prstGeom prst="ellipse">
            <a:avLst/>
          </a:prstGeom>
          <a:solidFill>
            <a:schemeClr val="accent5"/>
          </a:solidFill>
          <a:ln w="12700">
            <a:solidFill>
              <a:schemeClr val="accent5"/>
            </a:solidFill>
            <a:prstDash val="solid"/>
          </a:ln>
        </p:spPr>
      </p:sp>
      <p:sp>
        <p:nvSpPr>
          <p:cNvPr id="8" name="Text 6"/>
          <p:cNvSpPr txBox="1"/>
          <p:nvPr/>
        </p:nvSpPr>
        <p:spPr>
          <a:xfrm>
            <a:off x="1508760" y="502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확인</a:t>
            </a:r>
            <a:endParaRPr lang="en-US" sz="1400" dirty="0"/>
          </a:p>
        </p:txBody>
      </p:sp>
      <p:sp>
        <p:nvSpPr>
          <p:cNvPr id="9" name="motif-2"/>
          <p:cNvSpPr/>
          <p:nvPr/>
        </p:nvSpPr>
        <p:spPr>
          <a:xfrm>
            <a:off x="2468880" y="502920"/>
            <a:ext cx="685800" cy="685800"/>
          </a:xfrm>
          <a:prstGeom prst="ellipse">
            <a:avLst/>
          </a:prstGeom>
          <a:solidFill>
            <a:schemeClr val="accent1"/>
          </a:solidFill>
          <a:ln w="12700">
            <a:solidFill>
              <a:schemeClr val="accent1"/>
            </a:solidFill>
            <a:prstDash val="solid"/>
          </a:ln>
        </p:spPr>
      </p:sp>
      <p:sp>
        <p:nvSpPr>
          <p:cNvPr id="10" name="Text 8"/>
          <p:cNvSpPr txBox="1"/>
          <p:nvPr/>
        </p:nvSpPr>
        <p:spPr>
          <a:xfrm>
            <a:off x="2468880" y="502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연결</a:t>
            </a:r>
            <a:endParaRPr lang="en-US" sz="1400" dirty="0"/>
          </a:p>
        </p:txBody>
      </p:sp>
      <p:sp>
        <p:nvSpPr>
          <p:cNvPr id="11" name="motif-3"/>
          <p:cNvSpPr/>
          <p:nvPr/>
        </p:nvSpPr>
        <p:spPr>
          <a:xfrm>
            <a:off x="3429000" y="502920"/>
            <a:ext cx="685800" cy="685800"/>
          </a:xfrm>
          <a:prstGeom prst="ellipse">
            <a:avLst/>
          </a:prstGeom>
          <a:solidFill>
            <a:schemeClr val="accent5"/>
          </a:solidFill>
          <a:ln w="12700">
            <a:solidFill>
              <a:schemeClr val="accent5"/>
            </a:solidFill>
            <a:prstDash val="solid"/>
          </a:ln>
        </p:spPr>
      </p:sp>
      <p:sp>
        <p:nvSpPr>
          <p:cNvPr id="12" name="Text 10"/>
          <p:cNvSpPr txBox="1"/>
          <p:nvPr/>
        </p:nvSpPr>
        <p:spPr>
          <a:xfrm>
            <a:off x="3429000" y="502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해결</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막힌 업무는 주간 회의에서야 드러난다</a:t>
            </a:r>
            <a:endParaRPr lang="en-US" sz="2600" dirty="0"/>
          </a:p>
        </p:txBody>
      </p:sp>
      <p:sp>
        <p:nvSpPr>
          <p:cNvPr id="3" name="stat-card"/>
          <p:cNvSpPr/>
          <p:nvPr/>
        </p:nvSpPr>
        <p:spPr>
          <a:xfrm>
            <a:off x="457200" y="1143000"/>
            <a:ext cx="3108960" cy="3383280"/>
          </a:xfrm>
          <a:prstGeom prst="roundRect">
            <a:avLst>
              <a:gd name="adj" fmla="val 2353"/>
            </a:avLst>
          </a:prstGeom>
          <a:solidFill>
            <a:schemeClr val="tx2"/>
          </a:solidFill>
          <a:ln w="12700">
            <a:solidFill>
              <a:schemeClr val="tx2"/>
            </a:solidFill>
            <a:prstDash val="solid"/>
          </a:ln>
        </p:spPr>
      </p:sp>
      <p:sp>
        <p:nvSpPr>
          <p:cNvPr id="4" name="Text 2"/>
          <p:cNvSpPr txBox="1"/>
          <p:nvPr/>
        </p:nvSpPr>
        <p:spPr>
          <a:xfrm>
            <a:off x="685800" y="1508760"/>
            <a:ext cx="2743200" cy="914400"/>
          </a:xfrm>
          <a:prstGeom prst="rect">
            <a:avLst/>
          </a:prstGeom>
          <a:noFill/>
          <a:ln/>
        </p:spPr>
        <p:txBody>
          <a:bodyPr wrap="square" lIns="0" tIns="0" rIns="0" bIns="0" rtlCol="0" anchor="t"/>
          <a:lstStyle/>
          <a:p>
            <a:pPr indent="0" marL="0">
              <a:buNone/>
            </a:pPr>
            <a:r>
              <a:rPr lang="en-US" sz="5400" b="1" dirty="0">
                <a:solidFill>
                  <a:schemeClr val="accent1"/>
                </a:solidFill>
              </a:rPr>
              <a:t>101시간</a:t>
            </a:r>
            <a:endParaRPr lang="en-US" sz="5400" dirty="0"/>
          </a:p>
        </p:txBody>
      </p:sp>
      <p:sp>
        <p:nvSpPr>
          <p:cNvPr id="5" name="Text 3"/>
          <p:cNvSpPr txBox="1"/>
          <p:nvPr/>
        </p:nvSpPr>
        <p:spPr>
          <a:xfrm>
            <a:off x="685800" y="2606040"/>
            <a:ext cx="2697480" cy="1280160"/>
          </a:xfrm>
          <a:prstGeom prst="rect">
            <a:avLst/>
          </a:prstGeom>
          <a:noFill/>
          <a:ln/>
        </p:spPr>
        <p:txBody>
          <a:bodyPr wrap="square" lIns="0" tIns="0" rIns="0" bIns="0" rtlCol="0" anchor="t"/>
          <a:lstStyle/>
          <a:p>
            <a:pPr indent="0" marL="0">
              <a:buNone/>
            </a:pPr>
            <a:r>
              <a:rPr lang="en-US" sz="1400" dirty="0">
                <a:solidFill>
                  <a:schemeClr val="bg1"/>
                </a:solidFill>
              </a:rPr>
              <a:t>막힌 업무가 시작된 뒤 주간 회의에서 처음 드러나기까지 걸린 평균 시간 (synthetic 평가 프로젝트, 회의·Agent가 모두 찾은 업무 막힘 6건)</a:t>
            </a:r>
            <a:endParaRPr lang="en-US" sz="1400" dirty="0"/>
          </a:p>
        </p:txBody>
      </p:sp>
      <p:sp>
        <p:nvSpPr>
          <p:cNvPr id="6" name="pain-0"/>
          <p:cNvSpPr/>
          <p:nvPr/>
        </p:nvSpPr>
        <p:spPr>
          <a:xfrm>
            <a:off x="3840480" y="1252728"/>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3840480" y="125272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4526280" y="1143000"/>
            <a:ext cx="4160520" cy="365760"/>
          </a:xfrm>
          <a:prstGeom prst="rect">
            <a:avLst/>
          </a:prstGeom>
          <a:noFill/>
          <a:ln/>
        </p:spPr>
        <p:txBody>
          <a:bodyPr wrap="square" lIns="0" tIns="0" rIns="0" bIns="0" rtlCol="0" anchor="t"/>
          <a:lstStyle/>
          <a:p>
            <a:pPr indent="0" marL="0">
              <a:buNone/>
            </a:pPr>
            <a:r>
              <a:rPr lang="en-US" sz="1600" b="1" dirty="0">
                <a:solidFill>
                  <a:schemeClr val="tx2"/>
                </a:solidFill>
              </a:rPr>
              <a:t>기록 확인 부담</a:t>
            </a:r>
            <a:endParaRPr lang="en-US" sz="1600" dirty="0"/>
          </a:p>
        </p:txBody>
      </p:sp>
      <p:sp>
        <p:nvSpPr>
          <p:cNvPr id="9" name="Text 7"/>
          <p:cNvSpPr txBox="1"/>
          <p:nvPr/>
        </p:nvSpPr>
        <p:spPr>
          <a:xfrm>
            <a:off x="4526280" y="1527048"/>
            <a:ext cx="4160520" cy="685800"/>
          </a:xfrm>
          <a:prstGeom prst="rect">
            <a:avLst/>
          </a:prstGeom>
          <a:noFill/>
          <a:ln/>
        </p:spPr>
        <p:txBody>
          <a:bodyPr wrap="square" lIns="0" tIns="0" rIns="0" bIns="0" rtlCol="0" anchor="t"/>
          <a:lstStyle/>
          <a:p>
            <a:pPr indent="0" marL="0">
              <a:buNone/>
            </a:pPr>
            <a:r>
              <a:rPr lang="en-US" sz="1400" dirty="0">
                <a:solidFill>
                  <a:schemeClr val="tx1"/>
                </a:solidFill>
              </a:rPr>
              <a:t>8주 동안 공개 기록 211건(문서 수정·메시지·회의·Task)을 PM이 직접 훑어야 현황을 안다</a:t>
            </a:r>
            <a:endParaRPr lang="en-US" sz="1400" dirty="0"/>
          </a:p>
        </p:txBody>
      </p:sp>
      <p:sp>
        <p:nvSpPr>
          <p:cNvPr id="10" name="pain-1"/>
          <p:cNvSpPr/>
          <p:nvPr/>
        </p:nvSpPr>
        <p:spPr>
          <a:xfrm>
            <a:off x="3840480" y="2414016"/>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3840480" y="2414016"/>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526280" y="2304288"/>
            <a:ext cx="4160520" cy="365760"/>
          </a:xfrm>
          <a:prstGeom prst="rect">
            <a:avLst/>
          </a:prstGeom>
          <a:noFill/>
          <a:ln/>
        </p:spPr>
        <p:txBody>
          <a:bodyPr wrap="square" lIns="0" tIns="0" rIns="0" bIns="0" rtlCol="0" anchor="t"/>
          <a:lstStyle/>
          <a:p>
            <a:pPr indent="0" marL="0">
              <a:buNone/>
            </a:pPr>
            <a:r>
              <a:rPr lang="en-US" sz="1600" b="1" dirty="0">
                <a:solidFill>
                  <a:schemeClr val="tx2"/>
                </a:solidFill>
              </a:rPr>
              <a:t>늦은 발견</a:t>
            </a:r>
            <a:endParaRPr lang="en-US" sz="1600" dirty="0"/>
          </a:p>
        </p:txBody>
      </p:sp>
      <p:sp>
        <p:nvSpPr>
          <p:cNvPr id="13" name="Text 11"/>
          <p:cNvSpPr txBox="1"/>
          <p:nvPr/>
        </p:nvSpPr>
        <p:spPr>
          <a:xfrm>
            <a:off x="4526280" y="2688336"/>
            <a:ext cx="4160520" cy="685800"/>
          </a:xfrm>
          <a:prstGeom prst="rect">
            <a:avLst/>
          </a:prstGeom>
          <a:noFill/>
          <a:ln/>
        </p:spPr>
        <p:txBody>
          <a:bodyPr wrap="square" lIns="0" tIns="0" rIns="0" bIns="0" rtlCol="0" anchor="t"/>
          <a:lstStyle/>
          <a:p>
            <a:pPr indent="0" marL="0">
              <a:buNone/>
            </a:pPr>
            <a:r>
              <a:rPr lang="en-US" sz="1400" dirty="0">
                <a:solidFill>
                  <a:schemeClr val="tx1"/>
                </a:solidFill>
              </a:rPr>
              <a:t>막힌 사람은 회의 전까지 혼자 붙잡고 있고, 도울 수 있는 동료는 그 사실을 모른다</a:t>
            </a:r>
            <a:endParaRPr lang="en-US" sz="1400" dirty="0"/>
          </a:p>
        </p:txBody>
      </p:sp>
      <p:sp>
        <p:nvSpPr>
          <p:cNvPr id="14" name="pain-2"/>
          <p:cNvSpPr/>
          <p:nvPr/>
        </p:nvSpPr>
        <p:spPr>
          <a:xfrm>
            <a:off x="3840480" y="3575304"/>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3840480" y="3575304"/>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4526280" y="3465576"/>
            <a:ext cx="4160520" cy="365760"/>
          </a:xfrm>
          <a:prstGeom prst="rect">
            <a:avLst/>
          </a:prstGeom>
          <a:noFill/>
          <a:ln/>
        </p:spPr>
        <p:txBody>
          <a:bodyPr wrap="square" lIns="0" tIns="0" rIns="0" bIns="0" rtlCol="0" anchor="t"/>
          <a:lstStyle/>
          <a:p>
            <a:pPr indent="0" marL="0">
              <a:buNone/>
            </a:pPr>
            <a:r>
              <a:rPr lang="en-US" sz="1600" b="1" dirty="0">
                <a:solidFill>
                  <a:schemeClr val="tx2"/>
                </a:solidFill>
              </a:rPr>
              <a:t>단순 규칙의 오탐</a:t>
            </a:r>
            <a:endParaRPr lang="en-US" sz="1600" dirty="0"/>
          </a:p>
        </p:txBody>
      </p:sp>
      <p:sp>
        <p:nvSpPr>
          <p:cNvPr id="17" name="Text 15"/>
          <p:cNvSpPr txBox="1"/>
          <p:nvPr/>
        </p:nvSpPr>
        <p:spPr>
          <a:xfrm>
            <a:off x="4526280" y="3849624"/>
            <a:ext cx="4160520" cy="685800"/>
          </a:xfrm>
          <a:prstGeom prst="rect">
            <a:avLst/>
          </a:prstGeom>
          <a:noFill/>
          <a:ln/>
        </p:spPr>
        <p:txBody>
          <a:bodyPr wrap="square" lIns="0" tIns="0" rIns="0" bIns="0" rtlCol="0" anchor="t"/>
          <a:lstStyle/>
          <a:p>
            <a:pPr indent="0" marL="0">
              <a:buNone/>
            </a:pPr>
            <a:r>
              <a:rPr lang="en-US" sz="1400" dirty="0">
                <a:solidFill>
                  <a:schemeClr val="tx1"/>
                </a:solidFill>
              </a:rPr>
              <a:t>기록 공백 ≠ 정체. 로컬·피그마·노션에서 일하는 동안에도 기록은 비어 있다</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관찰하고, 묻고, 사람의 승인으로 연결한다</a:t>
            </a:r>
            <a:endParaRPr lang="en-US" sz="2600" dirty="0"/>
          </a:p>
        </p:txBody>
      </p:sp>
      <p:sp>
        <p:nvSpPr>
          <p:cNvPr id="3" name="feat-0"/>
          <p:cNvSpPr/>
          <p:nvPr/>
        </p:nvSpPr>
        <p:spPr>
          <a:xfrm>
            <a:off x="457200" y="1051560"/>
            <a:ext cx="457200" cy="457200"/>
          </a:xfrm>
          <a:prstGeom prst="ellipse">
            <a:avLst/>
          </a:prstGeom>
          <a:solidFill>
            <a:schemeClr val="accent5"/>
          </a:solidFill>
          <a:ln w="12700">
            <a:solidFill>
              <a:schemeClr val="accent5"/>
            </a:solidFill>
            <a:prstDash val="solid"/>
          </a:ln>
        </p:spPr>
      </p:sp>
      <p:sp>
        <p:nvSpPr>
          <p:cNvPr id="4" name="Text 2"/>
          <p:cNvSpPr txBox="1"/>
          <p:nvPr/>
        </p:nvSpPr>
        <p:spPr>
          <a:xfrm>
            <a:off x="457200" y="10515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97280" y="1005840"/>
            <a:ext cx="2743200" cy="548640"/>
          </a:xfrm>
          <a:prstGeom prst="rect">
            <a:avLst/>
          </a:prstGeom>
          <a:noFill/>
          <a:ln/>
        </p:spPr>
        <p:txBody>
          <a:bodyPr wrap="square" lIns="0" tIns="0" rIns="0" bIns="0" rtlCol="0" anchor="ctr"/>
          <a:lstStyle/>
          <a:p>
            <a:pPr indent="0" marL="0">
              <a:buNone/>
            </a:pPr>
            <a:r>
              <a:rPr lang="en-US" sz="1600" b="1" dirty="0">
                <a:solidFill>
                  <a:schemeClr val="tx2"/>
                </a:solidFill>
              </a:rPr>
              <a:t>정체 후보 탐지</a:t>
            </a:r>
            <a:endParaRPr lang="en-US" sz="1600" dirty="0"/>
          </a:p>
        </p:txBody>
      </p:sp>
      <p:sp>
        <p:nvSpPr>
          <p:cNvPr id="6" name="Text 4"/>
          <p:cNvSpPr txBox="1"/>
          <p:nvPr/>
        </p:nvSpPr>
        <p:spPr>
          <a:xfrm>
            <a:off x="3840480" y="1005840"/>
            <a:ext cx="4846320" cy="548640"/>
          </a:xfrm>
          <a:prstGeom prst="rect">
            <a:avLst/>
          </a:prstGeom>
          <a:noFill/>
          <a:ln/>
        </p:spPr>
        <p:txBody>
          <a:bodyPr wrap="square" lIns="0" tIns="0" rIns="0" bIns="0" rtlCol="0" anchor="ctr"/>
          <a:lstStyle/>
          <a:p>
            <a:pPr indent="0" marL="0">
              <a:buNone/>
            </a:pPr>
            <a:r>
              <a:rPr lang="en-US" sz="1400" dirty="0">
                <a:solidFill>
                  <a:schemeClr val="tx1"/>
                </a:solidFill>
              </a:rPr>
              <a:t>마감·기록 공백·선행 Task·과거 판단을 조합해 (Task, 담당자) 단위로 후보를 올린다</a:t>
            </a:r>
            <a:endParaRPr lang="en-US" sz="1400" dirty="0"/>
          </a:p>
        </p:txBody>
      </p:sp>
      <p:sp>
        <p:nvSpPr>
          <p:cNvPr id="7" name="feat-1"/>
          <p:cNvSpPr/>
          <p:nvPr/>
        </p:nvSpPr>
        <p:spPr>
          <a:xfrm>
            <a:off x="457200" y="1764792"/>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1764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97280" y="1719072"/>
            <a:ext cx="2743200" cy="548640"/>
          </a:xfrm>
          <a:prstGeom prst="rect">
            <a:avLst/>
          </a:prstGeom>
          <a:noFill/>
          <a:ln/>
        </p:spPr>
        <p:txBody>
          <a:bodyPr wrap="square" lIns="0" tIns="0" rIns="0" bIns="0" rtlCol="0" anchor="ctr"/>
          <a:lstStyle/>
          <a:p>
            <a:pPr indent="0" marL="0">
              <a:buNone/>
            </a:pPr>
            <a:r>
              <a:rPr lang="en-US" sz="1600" b="1" dirty="0">
                <a:solidFill>
                  <a:schemeClr val="tx2"/>
                </a:solidFill>
              </a:rPr>
              <a:t>확인 질문 + LLM 답장 해석</a:t>
            </a:r>
            <a:endParaRPr lang="en-US" sz="1600" dirty="0"/>
          </a:p>
        </p:txBody>
      </p:sp>
      <p:sp>
        <p:nvSpPr>
          <p:cNvPr id="10" name="Text 8"/>
          <p:cNvSpPr txBox="1"/>
          <p:nvPr/>
        </p:nvSpPr>
        <p:spPr>
          <a:xfrm>
            <a:off x="3840480" y="1719072"/>
            <a:ext cx="4846320" cy="548640"/>
          </a:xfrm>
          <a:prstGeom prst="rect">
            <a:avLst/>
          </a:prstGeom>
          <a:noFill/>
          <a:ln/>
        </p:spPr>
        <p:txBody>
          <a:bodyPr wrap="square" lIns="0" tIns="0" rIns="0" bIns="0" rtlCol="0" anchor="ctr"/>
          <a:lstStyle/>
          <a:p>
            <a:pPr indent="0" marL="0">
              <a:buNone/>
            </a:pPr>
            <a:r>
              <a:rPr lang="en-US" sz="1400" dirty="0">
                <a:solidFill>
                  <a:schemeClr val="tx1"/>
                </a:solidFill>
              </a:rPr>
              <a:t>담당자에게 묻고, 답장을 막힘·정상·완료와 내부·외부 요인으로 분류한다</a:t>
            </a:r>
            <a:endParaRPr lang="en-US" sz="1400" dirty="0"/>
          </a:p>
        </p:txBody>
      </p:sp>
      <p:sp>
        <p:nvSpPr>
          <p:cNvPr id="11" name="feat-2"/>
          <p:cNvSpPr/>
          <p:nvPr/>
        </p:nvSpPr>
        <p:spPr>
          <a:xfrm>
            <a:off x="457200" y="2478024"/>
            <a:ext cx="457200" cy="457200"/>
          </a:xfrm>
          <a:prstGeom prst="ellipse">
            <a:avLst/>
          </a:prstGeom>
          <a:solidFill>
            <a:schemeClr val="accent5"/>
          </a:solidFill>
          <a:ln w="12700">
            <a:solidFill>
              <a:schemeClr val="accent5"/>
            </a:solidFill>
            <a:prstDash val="solid"/>
          </a:ln>
        </p:spPr>
      </p:sp>
      <p:sp>
        <p:nvSpPr>
          <p:cNvPr id="12" name="Text 10"/>
          <p:cNvSpPr txBox="1"/>
          <p:nvPr/>
        </p:nvSpPr>
        <p:spPr>
          <a:xfrm>
            <a:off x="457200" y="24780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97280" y="2432304"/>
            <a:ext cx="2743200" cy="548640"/>
          </a:xfrm>
          <a:prstGeom prst="rect">
            <a:avLst/>
          </a:prstGeom>
          <a:noFill/>
          <a:ln/>
        </p:spPr>
        <p:txBody>
          <a:bodyPr wrap="square" lIns="0" tIns="0" rIns="0" bIns="0" rtlCol="0" anchor="ctr"/>
          <a:lstStyle/>
          <a:p>
            <a:pPr indent="0" marL="0">
              <a:buNone/>
            </a:pPr>
            <a:r>
              <a:rPr lang="en-US" sz="1600" b="1" dirty="0">
                <a:solidFill>
                  <a:schemeClr val="tx2"/>
                </a:solidFill>
              </a:rPr>
              <a:t>근거 기반 지원자 제안</a:t>
            </a:r>
            <a:endParaRPr lang="en-US" sz="1600" dirty="0"/>
          </a:p>
        </p:txBody>
      </p:sp>
      <p:sp>
        <p:nvSpPr>
          <p:cNvPr id="14" name="Text 12"/>
          <p:cNvSpPr txBox="1"/>
          <p:nvPr/>
        </p:nvSpPr>
        <p:spPr>
          <a:xfrm>
            <a:off x="3840480" y="2432304"/>
            <a:ext cx="4846320" cy="548640"/>
          </a:xfrm>
          <a:prstGeom prst="rect">
            <a:avLst/>
          </a:prstGeom>
          <a:noFill/>
          <a:ln/>
        </p:spPr>
        <p:txBody>
          <a:bodyPr wrap="square" lIns="0" tIns="0" rIns="0" bIns="0" rtlCol="0" anchor="ctr"/>
          <a:lstStyle/>
          <a:p>
            <a:pPr indent="0" marL="0">
              <a:buNone/>
            </a:pPr>
            <a:r>
              <a:rPr lang="en-US" sz="1400" dirty="0">
                <a:solidFill>
                  <a:schemeClr val="tx1"/>
                </a:solidFill>
              </a:rPr>
              <a:t>공개 기록의 관련 경험·이전 지원·현재 업무 부담으로 도울 사람을 고른다</a:t>
            </a:r>
            <a:endParaRPr lang="en-US" sz="1400" dirty="0"/>
          </a:p>
        </p:txBody>
      </p:sp>
      <p:sp>
        <p:nvSpPr>
          <p:cNvPr id="15" name="feat-3"/>
          <p:cNvSpPr/>
          <p:nvPr/>
        </p:nvSpPr>
        <p:spPr>
          <a:xfrm>
            <a:off x="457200" y="3191256"/>
            <a:ext cx="457200" cy="457200"/>
          </a:xfrm>
          <a:prstGeom prst="ellipse">
            <a:avLst/>
          </a:prstGeom>
          <a:solidFill>
            <a:schemeClr val="accent5"/>
          </a:solidFill>
          <a:ln w="12700">
            <a:solidFill>
              <a:schemeClr val="accent5"/>
            </a:solidFill>
            <a:prstDash val="solid"/>
          </a:ln>
        </p:spPr>
      </p:sp>
      <p:sp>
        <p:nvSpPr>
          <p:cNvPr id="16" name="Text 14"/>
          <p:cNvSpPr txBox="1"/>
          <p:nvPr/>
        </p:nvSpPr>
        <p:spPr>
          <a:xfrm>
            <a:off x="457200" y="319125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097280" y="3145536"/>
            <a:ext cx="2743200" cy="548640"/>
          </a:xfrm>
          <a:prstGeom prst="rect">
            <a:avLst/>
          </a:prstGeom>
          <a:noFill/>
          <a:ln/>
        </p:spPr>
        <p:txBody>
          <a:bodyPr wrap="square" lIns="0" tIns="0" rIns="0" bIns="0" rtlCol="0" anchor="ctr"/>
          <a:lstStyle/>
          <a:p>
            <a:pPr indent="0" marL="0">
              <a:buNone/>
            </a:pPr>
            <a:r>
              <a:rPr lang="en-US" sz="1600" b="1" dirty="0">
                <a:solidFill>
                  <a:schemeClr val="tx2"/>
                </a:solidFill>
              </a:rPr>
              <a:t>Human-in-the-loop 실행</a:t>
            </a:r>
            <a:endParaRPr lang="en-US" sz="1600" dirty="0"/>
          </a:p>
        </p:txBody>
      </p:sp>
      <p:sp>
        <p:nvSpPr>
          <p:cNvPr id="18" name="Text 16"/>
          <p:cNvSpPr txBox="1"/>
          <p:nvPr/>
        </p:nvSpPr>
        <p:spPr>
          <a:xfrm>
            <a:off x="3840480" y="3145536"/>
            <a:ext cx="4846320" cy="548640"/>
          </a:xfrm>
          <a:prstGeom prst="rect">
            <a:avLst/>
          </a:prstGeom>
          <a:noFill/>
          <a:ln/>
        </p:spPr>
        <p:txBody>
          <a:bodyPr wrap="square" lIns="0" tIns="0" rIns="0" bIns="0" rtlCol="0" anchor="ctr"/>
          <a:lstStyle/>
          <a:p>
            <a:pPr indent="0" marL="0">
              <a:buNone/>
            </a:pPr>
            <a:r>
              <a:rPr lang="en-US" sz="1400" dirty="0">
                <a:solidFill>
                  <a:schemeClr val="tx1"/>
                </a:solidFill>
              </a:rPr>
              <a:t>PM이 승인해야만 지원 요청이 나가고, 실제 수정 기록을 봐야 해결로 닫는다</a:t>
            </a:r>
            <a:endParaRPr lang="en-US" sz="1400" dirty="0"/>
          </a:p>
        </p:txBody>
      </p:sp>
      <p:sp>
        <p:nvSpPr>
          <p:cNvPr id="19" name="feat-4"/>
          <p:cNvSpPr/>
          <p:nvPr/>
        </p:nvSpPr>
        <p:spPr>
          <a:xfrm>
            <a:off x="457200" y="3904488"/>
            <a:ext cx="457200" cy="457200"/>
          </a:xfrm>
          <a:prstGeom prst="ellipse">
            <a:avLst/>
          </a:prstGeom>
          <a:solidFill>
            <a:schemeClr val="accent5"/>
          </a:solidFill>
          <a:ln w="12700">
            <a:solidFill>
              <a:schemeClr val="accent5"/>
            </a:solidFill>
            <a:prstDash val="solid"/>
          </a:ln>
        </p:spPr>
      </p:sp>
      <p:sp>
        <p:nvSpPr>
          <p:cNvPr id="20" name="Text 18"/>
          <p:cNvSpPr txBox="1"/>
          <p:nvPr/>
        </p:nvSpPr>
        <p:spPr>
          <a:xfrm>
            <a:off x="457200" y="390448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097280" y="3858768"/>
            <a:ext cx="2743200" cy="548640"/>
          </a:xfrm>
          <a:prstGeom prst="rect">
            <a:avLst/>
          </a:prstGeom>
          <a:noFill/>
          <a:ln/>
        </p:spPr>
        <p:txBody>
          <a:bodyPr wrap="square" lIns="0" tIns="0" rIns="0" bIns="0" rtlCol="0" anchor="ctr"/>
          <a:lstStyle/>
          <a:p>
            <a:pPr indent="0" marL="0">
              <a:buNone/>
            </a:pPr>
            <a:r>
              <a:rPr lang="en-US" sz="1600" b="1" dirty="0">
                <a:solidFill>
                  <a:schemeClr val="tx2"/>
                </a:solidFill>
              </a:rPr>
              <a:t>Memory + Feedback</a:t>
            </a:r>
            <a:endParaRPr lang="en-US" sz="1600" dirty="0"/>
          </a:p>
        </p:txBody>
      </p:sp>
      <p:sp>
        <p:nvSpPr>
          <p:cNvPr id="22" name="Text 20"/>
          <p:cNvSpPr txBox="1"/>
          <p:nvPr/>
        </p:nvSpPr>
        <p:spPr>
          <a:xfrm>
            <a:off x="3840480" y="3858768"/>
            <a:ext cx="4846320" cy="548640"/>
          </a:xfrm>
          <a:prstGeom prst="rect">
            <a:avLst/>
          </a:prstGeom>
          <a:noFill/>
          <a:ln/>
        </p:spPr>
        <p:txBody>
          <a:bodyPr wrap="square" lIns="0" tIns="0" rIns="0" bIns="0" rtlCol="0" anchor="ctr"/>
          <a:lstStyle/>
          <a:p>
            <a:pPr indent="0" marL="0">
              <a:buNone/>
            </a:pPr>
            <a:r>
              <a:rPr lang="en-US" sz="1400" dirty="0">
                <a:solidFill>
                  <a:schemeClr val="tx1"/>
                </a:solidFill>
              </a:rPr>
              <a:t>자신의 판단 결과(오탐·정탐·해결)를 상황 단위로 기억해 기준을 보정한다</a:t>
            </a:r>
            <a:endParaRPr lang="en-US" sz="1400" dirty="0"/>
          </a:p>
        </p:txBody>
      </p:sp>
      <p:sp>
        <p:nvSpPr>
          <p:cNvPr id="23" name="Text 21"/>
          <p:cNvSpPr txBox="1"/>
          <p:nvPr/>
        </p:nvSpPr>
        <p:spPr>
          <a:xfrm>
            <a:off x="457200" y="4617720"/>
            <a:ext cx="7863840" cy="274320"/>
          </a:xfrm>
          <a:prstGeom prst="rect">
            <a:avLst/>
          </a:prstGeom>
          <a:noFill/>
          <a:ln/>
        </p:spPr>
        <p:txBody>
          <a:bodyPr wrap="square" lIns="0" tIns="0" rIns="0" bIns="0" rtlCol="0" anchor="t"/>
          <a:lstStyle/>
          <a:p>
            <a:pPr indent="0" marL="0">
              <a:buNone/>
            </a:pPr>
            <a:r>
              <a:rPr lang="en-US" sz="1100" dirty="0">
                <a:solidFill>
                  <a:schemeClr val="accent3"/>
                </a:solidFill>
              </a:rPr>
              <a:t>보조 기능 · 기여 주장(Claim) 검증: 주장을 기록과 대조해 근거 정리 — atomic claim 15건(기여 주장 13건) 모두 정답과 일치, 점수·순위 없음</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LLM은 답장 해석만, 결정은 규칙과 사람이</a:t>
            </a:r>
            <a:endParaRPr lang="en-US" sz="2600" dirty="0"/>
          </a:p>
        </p:txBody>
      </p:sp>
      <p:pic>
        <p:nvPicPr>
          <p:cNvPr id="3" name="architecture" descr="ContriLog 정체 Agent 흐름도">    </p:cNvPr>
          <p:cNvPicPr>
            <a:picLocks noChangeAspect="1"/>
          </p:cNvPicPr>
          <p:nvPr/>
        </p:nvPicPr>
        <p:blipFill>
          <a:blip r:embed="rId1"/>
          <a:stretch>
            <a:fillRect/>
          </a:stretch>
        </p:blipFill>
        <p:spPr>
          <a:xfrm>
            <a:off x="457200" y="1143000"/>
            <a:ext cx="8229600" cy="3584448"/>
          </a:xfrm>
          <a:prstGeom prst="rect">
            <a:avLst/>
          </a:prstGeom>
        </p:spPr>
      </p:pic>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대회 AI Agent 6요소를 실제 동작으로 구현</a:t>
            </a:r>
            <a:endParaRPr lang="en-US" sz="2600" dirty="0"/>
          </a:p>
        </p:txBody>
      </p:sp>
      <p:sp>
        <p:nvSpPr>
          <p:cNvPr id="3" name="six-0"/>
          <p:cNvSpPr/>
          <p:nvPr/>
        </p:nvSpPr>
        <p:spPr>
          <a:xfrm>
            <a:off x="457200" y="1097280"/>
            <a:ext cx="2606040" cy="1645920"/>
          </a:xfrm>
          <a:prstGeom prst="roundRect">
            <a:avLst>
              <a:gd name="adj" fmla="val 4444"/>
            </a:avLst>
          </a:prstGeom>
          <a:solidFill>
            <a:schemeClr val="bg2"/>
          </a:solidFill>
          <a:ln w="12700">
            <a:solidFill>
              <a:schemeClr val="bg2"/>
            </a:solidFill>
            <a:prstDash val="solid"/>
          </a:ln>
        </p:spPr>
      </p:sp>
      <p:sp>
        <p:nvSpPr>
          <p:cNvPr id="4" name="Text 2"/>
          <p:cNvSpPr txBox="1"/>
          <p:nvPr/>
        </p:nvSpPr>
        <p:spPr>
          <a:xfrm>
            <a:off x="640080" y="12801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Goal</a:t>
            </a:r>
            <a:endParaRPr lang="en-US" sz="1800" dirty="0"/>
          </a:p>
        </p:txBody>
      </p:sp>
      <p:sp>
        <p:nvSpPr>
          <p:cNvPr id="5" name="Text 3"/>
          <p:cNvSpPr txBox="1"/>
          <p:nvPr/>
        </p:nvSpPr>
        <p:spPr>
          <a:xfrm>
            <a:off x="640080" y="1737360"/>
            <a:ext cx="2240280" cy="914400"/>
          </a:xfrm>
          <a:prstGeom prst="rect">
            <a:avLst/>
          </a:prstGeom>
          <a:noFill/>
          <a:ln/>
        </p:spPr>
        <p:txBody>
          <a:bodyPr wrap="square" lIns="0" tIns="0" rIns="0" bIns="0" rtlCol="0" anchor="t"/>
          <a:lstStyle/>
          <a:p>
            <a:pPr indent="0" marL="0">
              <a:buNone/>
            </a:pPr>
            <a:r>
              <a:rPr lang="en-US" sz="1400" dirty="0">
                <a:solidFill>
                  <a:schemeClr val="tx1"/>
                </a:solidFill>
              </a:rPr>
              <a:t>막힌 업무를 일찍 찾아 해결까지 연결</a:t>
            </a:r>
            <a:endParaRPr lang="en-US" sz="1400" dirty="0"/>
          </a:p>
        </p:txBody>
      </p:sp>
      <p:sp>
        <p:nvSpPr>
          <p:cNvPr id="6" name="six-1"/>
          <p:cNvSpPr/>
          <p:nvPr/>
        </p:nvSpPr>
        <p:spPr>
          <a:xfrm>
            <a:off x="3246120" y="1097280"/>
            <a:ext cx="2606040" cy="1645920"/>
          </a:xfrm>
          <a:prstGeom prst="roundRect">
            <a:avLst>
              <a:gd name="adj" fmla="val 4444"/>
            </a:avLst>
          </a:prstGeom>
          <a:solidFill>
            <a:schemeClr val="bg2"/>
          </a:solidFill>
          <a:ln w="12700">
            <a:solidFill>
              <a:schemeClr val="bg2"/>
            </a:solidFill>
            <a:prstDash val="solid"/>
          </a:ln>
        </p:spPr>
      </p:sp>
      <p:sp>
        <p:nvSpPr>
          <p:cNvPr id="7" name="Text 5"/>
          <p:cNvSpPr txBox="1"/>
          <p:nvPr/>
        </p:nvSpPr>
        <p:spPr>
          <a:xfrm>
            <a:off x="3429000" y="12801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Planning</a:t>
            </a:r>
            <a:endParaRPr lang="en-US" sz="1800" dirty="0"/>
          </a:p>
        </p:txBody>
      </p:sp>
      <p:sp>
        <p:nvSpPr>
          <p:cNvPr id="8" name="Text 6"/>
          <p:cNvSpPr txBox="1"/>
          <p:nvPr/>
        </p:nvSpPr>
        <p:spPr>
          <a:xfrm>
            <a:off x="3429000" y="1737360"/>
            <a:ext cx="2240280" cy="914400"/>
          </a:xfrm>
          <a:prstGeom prst="rect">
            <a:avLst/>
          </a:prstGeom>
          <a:noFill/>
          <a:ln/>
        </p:spPr>
        <p:txBody>
          <a:bodyPr wrap="square" lIns="0" tIns="0" rIns="0" bIns="0" rtlCol="0" anchor="t"/>
          <a:lstStyle/>
          <a:p>
            <a:pPr indent="0" marL="0">
              <a:buNone/>
            </a:pPr>
            <a:r>
              <a:rPr lang="en-US" sz="1400" dirty="0">
                <a:solidFill>
                  <a:schemeClr val="tx1"/>
                </a:solidFill>
              </a:rPr>
              <a:t>후보→확인→확정→지원→승인→재관찰, 다음 확인 시각을 스스로 결정</a:t>
            </a:r>
            <a:endParaRPr lang="en-US" sz="1400" dirty="0"/>
          </a:p>
        </p:txBody>
      </p:sp>
      <p:sp>
        <p:nvSpPr>
          <p:cNvPr id="9" name="six-2"/>
          <p:cNvSpPr/>
          <p:nvPr/>
        </p:nvSpPr>
        <p:spPr>
          <a:xfrm>
            <a:off x="6035040" y="1097280"/>
            <a:ext cx="2606040" cy="1645920"/>
          </a:xfrm>
          <a:prstGeom prst="roundRect">
            <a:avLst>
              <a:gd name="adj" fmla="val 4444"/>
            </a:avLst>
          </a:prstGeom>
          <a:solidFill>
            <a:schemeClr val="bg2"/>
          </a:solidFill>
          <a:ln w="12700">
            <a:solidFill>
              <a:schemeClr val="bg2"/>
            </a:solidFill>
            <a:prstDash val="solid"/>
          </a:ln>
        </p:spPr>
      </p:sp>
      <p:sp>
        <p:nvSpPr>
          <p:cNvPr id="10" name="Text 8"/>
          <p:cNvSpPr txBox="1"/>
          <p:nvPr/>
        </p:nvSpPr>
        <p:spPr>
          <a:xfrm>
            <a:off x="6217920" y="1280160"/>
            <a:ext cx="2240280" cy="411480"/>
          </a:xfrm>
          <a:prstGeom prst="rect">
            <a:avLst/>
          </a:prstGeom>
          <a:noFill/>
          <a:ln/>
        </p:spPr>
        <p:txBody>
          <a:bodyPr wrap="square" lIns="0" tIns="0" rIns="0" bIns="0" rtlCol="0" anchor="t"/>
          <a:lstStyle/>
          <a:p>
            <a:pPr indent="0" marL="0">
              <a:buNone/>
            </a:pPr>
            <a:r>
              <a:rPr lang="en-US" sz="1800" b="1" dirty="0">
                <a:solidFill>
                  <a:schemeClr val="accent1"/>
                </a:solidFill>
              </a:rPr>
              <a:t>Reasoning</a:t>
            </a:r>
            <a:endParaRPr lang="en-US" sz="1800" dirty="0"/>
          </a:p>
        </p:txBody>
      </p:sp>
      <p:sp>
        <p:nvSpPr>
          <p:cNvPr id="11" name="Text 9"/>
          <p:cNvSpPr txBox="1"/>
          <p:nvPr/>
        </p:nvSpPr>
        <p:spPr>
          <a:xfrm>
            <a:off x="6217920" y="1737360"/>
            <a:ext cx="2240280" cy="914400"/>
          </a:xfrm>
          <a:prstGeom prst="rect">
            <a:avLst/>
          </a:prstGeom>
          <a:noFill/>
          <a:ln/>
        </p:spPr>
        <p:txBody>
          <a:bodyPr wrap="square" lIns="0" tIns="0" rIns="0" bIns="0" rtlCol="0" anchor="t"/>
          <a:lstStyle/>
          <a:p>
            <a:pPr indent="0" marL="0">
              <a:buNone/>
            </a:pPr>
            <a:r>
              <a:rPr lang="en-US" sz="1400" dirty="0">
                <a:solidFill>
                  <a:schemeClr val="tx1"/>
                </a:solidFill>
              </a:rPr>
              <a:t>신호 조합 판단 + LLM 답장 분류, 외부 요인이면 지원 제안 생략</a:t>
            </a:r>
            <a:endParaRPr lang="en-US" sz="1400" dirty="0"/>
          </a:p>
        </p:txBody>
      </p:sp>
      <p:sp>
        <p:nvSpPr>
          <p:cNvPr id="12" name="six-3"/>
          <p:cNvSpPr/>
          <p:nvPr/>
        </p:nvSpPr>
        <p:spPr>
          <a:xfrm>
            <a:off x="457200" y="2926080"/>
            <a:ext cx="2606040" cy="1645920"/>
          </a:xfrm>
          <a:prstGeom prst="roundRect">
            <a:avLst>
              <a:gd name="adj" fmla="val 4444"/>
            </a:avLst>
          </a:prstGeom>
          <a:solidFill>
            <a:schemeClr val="bg2"/>
          </a:solidFill>
          <a:ln w="12700">
            <a:solidFill>
              <a:schemeClr val="bg2"/>
            </a:solidFill>
            <a:prstDash val="solid"/>
          </a:ln>
        </p:spPr>
      </p:sp>
      <p:sp>
        <p:nvSpPr>
          <p:cNvPr id="13" name="Text 11"/>
          <p:cNvSpPr txBox="1"/>
          <p:nvPr/>
        </p:nvSpPr>
        <p:spPr>
          <a:xfrm>
            <a:off x="640080" y="31089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Tool Use</a:t>
            </a:r>
            <a:endParaRPr lang="en-US" sz="1800" dirty="0"/>
          </a:p>
        </p:txBody>
      </p:sp>
      <p:sp>
        <p:nvSpPr>
          <p:cNvPr id="14" name="Text 12"/>
          <p:cNvSpPr txBox="1"/>
          <p:nvPr/>
        </p:nvSpPr>
        <p:spPr>
          <a:xfrm>
            <a:off x="640080" y="3566160"/>
            <a:ext cx="2240280" cy="914400"/>
          </a:xfrm>
          <a:prstGeom prst="rect">
            <a:avLst/>
          </a:prstGeom>
          <a:noFill/>
          <a:ln/>
        </p:spPr>
        <p:txBody>
          <a:bodyPr wrap="square" lIns="0" tIns="0" rIns="0" bIns="0" rtlCol="0" anchor="t"/>
          <a:lstStyle/>
          <a:p>
            <a:pPr indent="0" marL="0">
              <a:buNone/>
            </a:pPr>
            <a:r>
              <a:rPr lang="en-US" sz="1400" dirty="0">
                <a:solidFill>
                  <a:schemeClr val="tx1"/>
                </a:solidFill>
              </a:rPr>
              <a:t>관찰 5종·행동 3종 Tool을 실제 호출(정체 E2E는 관찰 4종), 모든 호출 로그</a:t>
            </a:r>
            <a:endParaRPr lang="en-US" sz="1400" dirty="0"/>
          </a:p>
        </p:txBody>
      </p:sp>
      <p:sp>
        <p:nvSpPr>
          <p:cNvPr id="15" name="six-4"/>
          <p:cNvSpPr/>
          <p:nvPr/>
        </p:nvSpPr>
        <p:spPr>
          <a:xfrm>
            <a:off x="3246120" y="2926080"/>
            <a:ext cx="2606040" cy="1645920"/>
          </a:xfrm>
          <a:prstGeom prst="roundRect">
            <a:avLst>
              <a:gd name="adj" fmla="val 4444"/>
            </a:avLst>
          </a:prstGeom>
          <a:solidFill>
            <a:schemeClr val="bg2"/>
          </a:solidFill>
          <a:ln w="12700">
            <a:solidFill>
              <a:schemeClr val="bg2"/>
            </a:solidFill>
            <a:prstDash val="solid"/>
          </a:ln>
        </p:spPr>
      </p:sp>
      <p:sp>
        <p:nvSpPr>
          <p:cNvPr id="16" name="Text 14"/>
          <p:cNvSpPr txBox="1"/>
          <p:nvPr/>
        </p:nvSpPr>
        <p:spPr>
          <a:xfrm>
            <a:off x="3429000" y="31089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Memory / State</a:t>
            </a:r>
            <a:endParaRPr lang="en-US" sz="1800" dirty="0"/>
          </a:p>
        </p:txBody>
      </p:sp>
      <p:sp>
        <p:nvSpPr>
          <p:cNvPr id="17" name="Text 15"/>
          <p:cNvSpPr txBox="1"/>
          <p:nvPr/>
        </p:nvSpPr>
        <p:spPr>
          <a:xfrm>
            <a:off x="3429000" y="3566160"/>
            <a:ext cx="2240280" cy="914400"/>
          </a:xfrm>
          <a:prstGeom prst="rect">
            <a:avLst/>
          </a:prstGeom>
          <a:noFill/>
          <a:ln/>
        </p:spPr>
        <p:txBody>
          <a:bodyPr wrap="square" lIns="0" tIns="0" rIns="0" bIns="0" rtlCol="0" anchor="t"/>
          <a:lstStyle/>
          <a:p>
            <a:pPr indent="0" marL="0">
              <a:buNone/>
            </a:pPr>
            <a:r>
              <a:rPr lang="en-US" sz="1400" dirty="0">
                <a:solidFill>
                  <a:schemeClr val="tx1"/>
                </a:solidFill>
              </a:rPr>
              <a:t>(Task, 담당자)별 진행 상태, 보낸 질문·받은 답장, 판단 결과 Memory</a:t>
            </a:r>
            <a:endParaRPr lang="en-US" sz="1400" dirty="0"/>
          </a:p>
        </p:txBody>
      </p:sp>
      <p:sp>
        <p:nvSpPr>
          <p:cNvPr id="18" name="six-5"/>
          <p:cNvSpPr/>
          <p:nvPr/>
        </p:nvSpPr>
        <p:spPr>
          <a:xfrm>
            <a:off x="6035040" y="2926080"/>
            <a:ext cx="2606040" cy="1645920"/>
          </a:xfrm>
          <a:prstGeom prst="roundRect">
            <a:avLst>
              <a:gd name="adj" fmla="val 4444"/>
            </a:avLst>
          </a:prstGeom>
          <a:solidFill>
            <a:schemeClr val="bg2"/>
          </a:solidFill>
          <a:ln w="12700">
            <a:solidFill>
              <a:schemeClr val="bg2"/>
            </a:solidFill>
            <a:prstDash val="solid"/>
          </a:ln>
        </p:spPr>
      </p:sp>
      <p:sp>
        <p:nvSpPr>
          <p:cNvPr id="19" name="Text 17"/>
          <p:cNvSpPr txBox="1"/>
          <p:nvPr/>
        </p:nvSpPr>
        <p:spPr>
          <a:xfrm>
            <a:off x="6217920" y="3108960"/>
            <a:ext cx="2240280" cy="411480"/>
          </a:xfrm>
          <a:prstGeom prst="rect">
            <a:avLst/>
          </a:prstGeom>
          <a:noFill/>
          <a:ln/>
        </p:spPr>
        <p:txBody>
          <a:bodyPr wrap="square" lIns="0" tIns="0" rIns="0" bIns="0" rtlCol="0" anchor="t"/>
          <a:lstStyle/>
          <a:p>
            <a:pPr indent="0" marL="0">
              <a:buNone/>
            </a:pPr>
            <a:r>
              <a:rPr lang="en-US" sz="1800" b="1" dirty="0">
                <a:solidFill>
                  <a:schemeClr val="tx2"/>
                </a:solidFill>
              </a:rPr>
              <a:t>Feedback</a:t>
            </a:r>
            <a:endParaRPr lang="en-US" sz="1800" dirty="0"/>
          </a:p>
        </p:txBody>
      </p:sp>
      <p:sp>
        <p:nvSpPr>
          <p:cNvPr id="20" name="Text 18"/>
          <p:cNvSpPr txBox="1"/>
          <p:nvPr/>
        </p:nvSpPr>
        <p:spPr>
          <a:xfrm>
            <a:off x="6217920" y="3566160"/>
            <a:ext cx="2240280" cy="914400"/>
          </a:xfrm>
          <a:prstGeom prst="rect">
            <a:avLst/>
          </a:prstGeom>
          <a:noFill/>
          <a:ln/>
        </p:spPr>
        <p:txBody>
          <a:bodyPr wrap="square" lIns="0" tIns="0" rIns="0" bIns="0" rtlCol="0" anchor="t"/>
          <a:lstStyle/>
          <a:p>
            <a:pPr indent="0" marL="0">
              <a:buNone/>
            </a:pPr>
            <a:r>
              <a:rPr lang="en-US" sz="1400" dirty="0">
                <a:solidFill>
                  <a:schemeClr val="tx1"/>
                </a:solidFill>
              </a:rPr>
              <a:t>오탐·정탐으로 기준 보정, 수정 기록을 다시 봐야 해결</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시연: 웹훅 서명 오류를 해결까지 연결</a:t>
            </a:r>
            <a:endParaRPr lang="en-US" sz="2600" dirty="0"/>
          </a:p>
        </p:txBody>
      </p:sp>
      <p:sp>
        <p:nvSpPr>
          <p:cNvPr id="3" name="timeline"/>
          <p:cNvSpPr/>
          <p:nvPr/>
        </p:nvSpPr>
        <p:spPr>
          <a:xfrm>
            <a:off x="731520" y="1481328"/>
            <a:ext cx="7680960" cy="0"/>
          </a:xfrm>
          <a:prstGeom prst="line">
            <a:avLst/>
          </a:prstGeom>
          <a:noFill/>
          <a:ln w="19050">
            <a:solidFill>
              <a:schemeClr val="accent3"/>
            </a:solidFill>
            <a:prstDash val="solid"/>
          </a:ln>
        </p:spPr>
      </p:sp>
      <p:sp>
        <p:nvSpPr>
          <p:cNvPr id="4" name="step-dot-0"/>
          <p:cNvSpPr/>
          <p:nvPr/>
        </p:nvSpPr>
        <p:spPr>
          <a:xfrm>
            <a:off x="886968" y="1344168"/>
            <a:ext cx="274320" cy="274320"/>
          </a:xfrm>
          <a:prstGeom prst="ellipse">
            <a:avLst/>
          </a:prstGeom>
          <a:solidFill>
            <a:schemeClr val="accent5"/>
          </a:solidFill>
          <a:ln w="25400">
            <a:solidFill>
              <a:schemeClr val="bg1"/>
            </a:solidFill>
            <a:prstDash val="solid"/>
          </a:ln>
        </p:spPr>
      </p:sp>
      <p:sp>
        <p:nvSpPr>
          <p:cNvPr id="5" name="Text 3"/>
          <p:cNvSpPr txBox="1"/>
          <p:nvPr/>
        </p:nvSpPr>
        <p:spPr>
          <a:xfrm>
            <a:off x="4572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5/24 09:00</a:t>
            </a:r>
            <a:endParaRPr lang="en-US" sz="1100" dirty="0"/>
          </a:p>
        </p:txBody>
      </p:sp>
      <p:sp>
        <p:nvSpPr>
          <p:cNvPr id="6" name="Text 4"/>
          <p:cNvSpPr txBox="1"/>
          <p:nvPr/>
        </p:nvSpPr>
        <p:spPr>
          <a:xfrm>
            <a:off x="4572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정체 후보</a:t>
            </a:r>
            <a:endParaRPr lang="en-US" sz="1400" dirty="0"/>
          </a:p>
        </p:txBody>
      </p:sp>
      <p:sp>
        <p:nvSpPr>
          <p:cNvPr id="7" name="Text 5"/>
          <p:cNvSpPr txBox="1"/>
          <p:nvPr/>
        </p:nvSpPr>
        <p:spPr>
          <a:xfrm>
            <a:off x="4572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마지막 기록 후 94시간, 허용 91.5시간 (Memory 보정 포함)</a:t>
            </a:r>
            <a:endParaRPr lang="en-US" sz="1100" dirty="0"/>
          </a:p>
        </p:txBody>
      </p:sp>
      <p:sp>
        <p:nvSpPr>
          <p:cNvPr id="8" name="step-dot-1"/>
          <p:cNvSpPr/>
          <p:nvPr/>
        </p:nvSpPr>
        <p:spPr>
          <a:xfrm>
            <a:off x="2258568" y="1344168"/>
            <a:ext cx="274320" cy="274320"/>
          </a:xfrm>
          <a:prstGeom prst="ellipse">
            <a:avLst/>
          </a:prstGeom>
          <a:solidFill>
            <a:schemeClr val="accent5"/>
          </a:solidFill>
          <a:ln w="25400">
            <a:solidFill>
              <a:schemeClr val="bg1"/>
            </a:solidFill>
            <a:prstDash val="solid"/>
          </a:ln>
        </p:spPr>
      </p:sp>
      <p:sp>
        <p:nvSpPr>
          <p:cNvPr id="9" name="Text 7"/>
          <p:cNvSpPr txBox="1"/>
          <p:nvPr/>
        </p:nvSpPr>
        <p:spPr>
          <a:xfrm>
            <a:off x="18288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10:45</a:t>
            </a:r>
            <a:endParaRPr lang="en-US" sz="1100" dirty="0"/>
          </a:p>
        </p:txBody>
      </p:sp>
      <p:sp>
        <p:nvSpPr>
          <p:cNvPr id="10" name="Text 8"/>
          <p:cNvSpPr txBox="1"/>
          <p:nvPr/>
        </p:nvSpPr>
        <p:spPr>
          <a:xfrm>
            <a:off x="18288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확인 → 막힘</a:t>
            </a:r>
            <a:endParaRPr lang="en-US" sz="1400" dirty="0"/>
          </a:p>
        </p:txBody>
      </p:sp>
      <p:sp>
        <p:nvSpPr>
          <p:cNvPr id="11" name="Text 9"/>
          <p:cNvSpPr txBox="1"/>
          <p:nvPr/>
        </p:nvSpPr>
        <p:spPr>
          <a:xfrm>
            <a:off x="18288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“스테이징에서만 401… 이틀째 못 찾고 있어요” → LLM: 막힘·내부</a:t>
            </a:r>
            <a:endParaRPr lang="en-US" sz="1100" dirty="0"/>
          </a:p>
        </p:txBody>
      </p:sp>
      <p:sp>
        <p:nvSpPr>
          <p:cNvPr id="12" name="step-dot-2"/>
          <p:cNvSpPr/>
          <p:nvPr/>
        </p:nvSpPr>
        <p:spPr>
          <a:xfrm>
            <a:off x="3630168" y="1344168"/>
            <a:ext cx="274320" cy="274320"/>
          </a:xfrm>
          <a:prstGeom prst="ellipse">
            <a:avLst/>
          </a:prstGeom>
          <a:solidFill>
            <a:schemeClr val="accent5"/>
          </a:solidFill>
          <a:ln w="25400">
            <a:solidFill>
              <a:schemeClr val="bg1"/>
            </a:solidFill>
            <a:prstDash val="solid"/>
          </a:ln>
        </p:spPr>
      </p:sp>
      <p:sp>
        <p:nvSpPr>
          <p:cNvPr id="13" name="Text 11"/>
          <p:cNvSpPr txBox="1"/>
          <p:nvPr/>
        </p:nvSpPr>
        <p:spPr>
          <a:xfrm>
            <a:off x="32004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10:45</a:t>
            </a:r>
            <a:endParaRPr lang="en-US" sz="1100" dirty="0"/>
          </a:p>
        </p:txBody>
      </p:sp>
      <p:sp>
        <p:nvSpPr>
          <p:cNvPr id="14" name="Text 12"/>
          <p:cNvSpPr txBox="1"/>
          <p:nvPr/>
        </p:nvSpPr>
        <p:spPr>
          <a:xfrm>
            <a:off x="32004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지원자 제안</a:t>
            </a:r>
            <a:endParaRPr lang="en-US" sz="1400" dirty="0"/>
          </a:p>
        </p:txBody>
      </p:sp>
      <p:sp>
        <p:nvSpPr>
          <p:cNvPr id="15" name="Text 13"/>
          <p:cNvSpPr txBox="1"/>
          <p:nvPr/>
        </p:nvSpPr>
        <p:spPr>
          <a:xfrm>
            <a:off x="32004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게이트웨이 설정 기록과 이전 지원 기록이 있는 류다인</a:t>
            </a:r>
            <a:endParaRPr lang="en-US" sz="1100" dirty="0"/>
          </a:p>
        </p:txBody>
      </p:sp>
      <p:sp>
        <p:nvSpPr>
          <p:cNvPr id="16" name="step-dot-3"/>
          <p:cNvSpPr/>
          <p:nvPr/>
        </p:nvSpPr>
        <p:spPr>
          <a:xfrm>
            <a:off x="5001768" y="1344168"/>
            <a:ext cx="274320" cy="274320"/>
          </a:xfrm>
          <a:prstGeom prst="ellipse">
            <a:avLst/>
          </a:prstGeom>
          <a:solidFill>
            <a:schemeClr val="accent1"/>
          </a:solidFill>
          <a:ln w="25400">
            <a:solidFill>
              <a:schemeClr val="bg1"/>
            </a:solidFill>
            <a:prstDash val="solid"/>
          </a:ln>
        </p:spPr>
      </p:sp>
      <p:sp>
        <p:nvSpPr>
          <p:cNvPr id="17" name="Text 15"/>
          <p:cNvSpPr txBox="1"/>
          <p:nvPr/>
        </p:nvSpPr>
        <p:spPr>
          <a:xfrm>
            <a:off x="45720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10:45</a:t>
            </a:r>
            <a:endParaRPr lang="en-US" sz="1100" dirty="0"/>
          </a:p>
        </p:txBody>
      </p:sp>
      <p:sp>
        <p:nvSpPr>
          <p:cNvPr id="18" name="Text 16"/>
          <p:cNvSpPr txBox="1"/>
          <p:nvPr/>
        </p:nvSpPr>
        <p:spPr>
          <a:xfrm>
            <a:off x="45720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PM 승인 → 전송</a:t>
            </a:r>
            <a:endParaRPr lang="en-US" sz="1400" dirty="0"/>
          </a:p>
        </p:txBody>
      </p:sp>
      <p:sp>
        <p:nvSpPr>
          <p:cNvPr id="19" name="Text 17"/>
          <p:cNvSpPr txBox="1"/>
          <p:nvPr/>
        </p:nvSpPr>
        <p:spPr>
          <a:xfrm>
            <a:off x="45720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사람이 승인해야만 전송 (거절하면 전송 안 함)</a:t>
            </a:r>
            <a:endParaRPr lang="en-US" sz="1100" dirty="0"/>
          </a:p>
        </p:txBody>
      </p:sp>
      <p:sp>
        <p:nvSpPr>
          <p:cNvPr id="20" name="step-dot-4"/>
          <p:cNvSpPr/>
          <p:nvPr/>
        </p:nvSpPr>
        <p:spPr>
          <a:xfrm>
            <a:off x="6373368" y="1344168"/>
            <a:ext cx="274320" cy="274320"/>
          </a:xfrm>
          <a:prstGeom prst="ellipse">
            <a:avLst/>
          </a:prstGeom>
          <a:solidFill>
            <a:schemeClr val="accent5"/>
          </a:solidFill>
          <a:ln w="25400">
            <a:solidFill>
              <a:schemeClr val="bg1"/>
            </a:solidFill>
            <a:prstDash val="solid"/>
          </a:ln>
        </p:spPr>
      </p:sp>
      <p:sp>
        <p:nvSpPr>
          <p:cNvPr id="21" name="Text 19"/>
          <p:cNvSpPr txBox="1"/>
          <p:nvPr/>
        </p:nvSpPr>
        <p:spPr>
          <a:xfrm>
            <a:off x="59436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11:30</a:t>
            </a:r>
            <a:endParaRPr lang="en-US" sz="1100" dirty="0"/>
          </a:p>
        </p:txBody>
      </p:sp>
      <p:sp>
        <p:nvSpPr>
          <p:cNvPr id="22" name="Text 20"/>
          <p:cNvSpPr txBox="1"/>
          <p:nvPr/>
        </p:nvSpPr>
        <p:spPr>
          <a:xfrm>
            <a:off x="59436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지원 수락</a:t>
            </a:r>
            <a:endParaRPr lang="en-US" sz="1400" dirty="0"/>
          </a:p>
        </p:txBody>
      </p:sp>
      <p:sp>
        <p:nvSpPr>
          <p:cNvPr id="23" name="Text 21"/>
          <p:cNvSpPr txBox="1"/>
          <p:nvPr/>
        </p:nvSpPr>
        <p:spPr>
          <a:xfrm>
            <a:off x="59436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수락만으로는 해결로 보지 않음</a:t>
            </a:r>
            <a:endParaRPr lang="en-US" sz="1100" dirty="0"/>
          </a:p>
        </p:txBody>
      </p:sp>
      <p:sp>
        <p:nvSpPr>
          <p:cNvPr id="24" name="step-dot-5"/>
          <p:cNvSpPr/>
          <p:nvPr/>
        </p:nvSpPr>
        <p:spPr>
          <a:xfrm>
            <a:off x="7744968" y="1344168"/>
            <a:ext cx="274320" cy="274320"/>
          </a:xfrm>
          <a:prstGeom prst="ellipse">
            <a:avLst/>
          </a:prstGeom>
          <a:solidFill>
            <a:schemeClr val="accent2"/>
          </a:solidFill>
          <a:ln w="25400">
            <a:solidFill>
              <a:schemeClr val="bg1"/>
            </a:solidFill>
            <a:prstDash val="solid"/>
          </a:ln>
        </p:spPr>
      </p:sp>
      <p:sp>
        <p:nvSpPr>
          <p:cNvPr id="25" name="Text 23"/>
          <p:cNvSpPr txBox="1"/>
          <p:nvPr/>
        </p:nvSpPr>
        <p:spPr>
          <a:xfrm>
            <a:off x="7315200" y="1005840"/>
            <a:ext cx="1143000" cy="274320"/>
          </a:xfrm>
          <a:prstGeom prst="rect">
            <a:avLst/>
          </a:prstGeom>
          <a:noFill/>
          <a:ln/>
        </p:spPr>
        <p:txBody>
          <a:bodyPr wrap="square" lIns="0" tIns="0" rIns="0" bIns="0" rtlCol="0" anchor="t"/>
          <a:lstStyle/>
          <a:p>
            <a:pPr algn="ctr" indent="0" marL="0">
              <a:buNone/>
            </a:pPr>
            <a:r>
              <a:rPr lang="en-US" sz="1100" dirty="0">
                <a:solidFill>
                  <a:schemeClr val="accent3"/>
                </a:solidFill>
              </a:rPr>
              <a:t>5/27 21:00</a:t>
            </a:r>
            <a:endParaRPr lang="en-US" sz="1100" dirty="0"/>
          </a:p>
        </p:txBody>
      </p:sp>
      <p:sp>
        <p:nvSpPr>
          <p:cNvPr id="26" name="Text 24"/>
          <p:cNvSpPr txBox="1"/>
          <p:nvPr/>
        </p:nvSpPr>
        <p:spPr>
          <a:xfrm>
            <a:off x="7315200" y="1783080"/>
            <a:ext cx="1143000" cy="548640"/>
          </a:xfrm>
          <a:prstGeom prst="rect">
            <a:avLst/>
          </a:prstGeom>
          <a:noFill/>
          <a:ln/>
        </p:spPr>
        <p:txBody>
          <a:bodyPr wrap="square" lIns="0" tIns="0" rIns="0" bIns="0" rtlCol="0" anchor="t"/>
          <a:lstStyle/>
          <a:p>
            <a:pPr algn="ctr" indent="0" marL="0">
              <a:buNone/>
            </a:pPr>
            <a:r>
              <a:rPr lang="en-US" sz="1400" b="1" dirty="0">
                <a:solidFill>
                  <a:schemeClr val="tx2"/>
                </a:solidFill>
              </a:rPr>
              <a:t>RESOLVED</a:t>
            </a:r>
            <a:endParaRPr lang="en-US" sz="1400" dirty="0"/>
          </a:p>
        </p:txBody>
      </p:sp>
      <p:sp>
        <p:nvSpPr>
          <p:cNvPr id="27" name="Text 25"/>
          <p:cNvSpPr txBox="1"/>
          <p:nvPr/>
        </p:nvSpPr>
        <p:spPr>
          <a:xfrm>
            <a:off x="7315200" y="2331720"/>
            <a:ext cx="1188720" cy="1554480"/>
          </a:xfrm>
          <a:prstGeom prst="rect">
            <a:avLst/>
          </a:prstGeom>
          <a:noFill/>
          <a:ln/>
        </p:spPr>
        <p:txBody>
          <a:bodyPr wrap="square" lIns="0" tIns="0" rIns="0" bIns="0" rtlCol="0" anchor="t"/>
          <a:lstStyle/>
          <a:p>
            <a:pPr indent="0" marL="0">
              <a:buNone/>
            </a:pPr>
            <a:r>
              <a:rPr lang="en-US" sz="1100" dirty="0">
                <a:solidFill>
                  <a:schemeClr val="tx1"/>
                </a:solidFill>
              </a:rPr>
              <a:t>실제 수정 리비전 확인 → 결과를 Memory에 기록</a:t>
            </a:r>
            <a:endParaRPr lang="en-US" sz="1100" dirty="0"/>
          </a:p>
        </p:txBody>
      </p:sp>
      <p:sp>
        <p:nvSpPr>
          <p:cNvPr id="28" name="demo-cmd"/>
          <p:cNvSpPr/>
          <p:nvPr/>
        </p:nvSpPr>
        <p:spPr>
          <a:xfrm>
            <a:off x="457200" y="4069080"/>
            <a:ext cx="8229600" cy="548640"/>
          </a:xfrm>
          <a:prstGeom prst="roundRect">
            <a:avLst>
              <a:gd name="adj" fmla="val 13333"/>
            </a:avLst>
          </a:prstGeom>
          <a:solidFill>
            <a:schemeClr val="bg2"/>
          </a:solidFill>
          <a:ln w="12700">
            <a:solidFill>
              <a:schemeClr val="bg2"/>
            </a:solidFill>
            <a:prstDash val="solid"/>
          </a:ln>
        </p:spPr>
      </p:sp>
      <p:sp>
        <p:nvSpPr>
          <p:cNvPr id="29" name="Text 2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dirty="0">
                <a:solidFill>
                  <a:schemeClr val="tx2"/>
                </a:solidFill>
              </a:rPr>
              <a:t>웹 시연: python scripts/web_demo.py — 판단 과정·LLM 근거를 단계별 표시, PM이 버튼으로 승인</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업무 막힘을 회의보다 평균 36.7시간(36%) 먼저 확정</a:t>
            </a:r>
            <a:endParaRPr lang="en-US" sz="2600" dirty="0"/>
          </a:p>
        </p:txBody>
      </p:sp>
      <p:graphicFrame>
        <p:nvGraphicFramePr>
          <p:cNvPr id="3" name="before-after-chart" descr=""/>
          <p:cNvGraphicFramePr/>
          <p:nvPr/>
        </p:nvGraphicFramePr>
        <p:xfrm>
          <a:off x="365760" y="100584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4" name="stat-0"/>
          <p:cNvSpPr/>
          <p:nvPr/>
        </p:nvSpPr>
        <p:spPr>
          <a:xfrm>
            <a:off x="5989320" y="1097280"/>
            <a:ext cx="2697480" cy="1051560"/>
          </a:xfrm>
          <a:prstGeom prst="roundRect">
            <a:avLst>
              <a:gd name="adj" fmla="val 6957"/>
            </a:avLst>
          </a:prstGeom>
          <a:solidFill>
            <a:schemeClr val="bg2"/>
          </a:solidFill>
          <a:ln w="12700">
            <a:solidFill>
              <a:schemeClr val="bg2"/>
            </a:solidFill>
            <a:prstDash val="solid"/>
          </a:ln>
        </p:spPr>
      </p:sp>
      <p:sp>
        <p:nvSpPr>
          <p:cNvPr id="5" name="Text 2"/>
          <p:cNvSpPr txBox="1"/>
          <p:nvPr/>
        </p:nvSpPr>
        <p:spPr>
          <a:xfrm>
            <a:off x="6172200" y="1207008"/>
            <a:ext cx="2377440" cy="457200"/>
          </a:xfrm>
          <a:prstGeom prst="rect">
            <a:avLst/>
          </a:prstGeom>
          <a:noFill/>
          <a:ln/>
        </p:spPr>
        <p:txBody>
          <a:bodyPr wrap="square" lIns="0" tIns="0" rIns="0" bIns="0" rtlCol="0" anchor="t"/>
          <a:lstStyle/>
          <a:p>
            <a:pPr indent="0" marL="0">
              <a:buNone/>
            </a:pPr>
            <a:r>
              <a:rPr lang="en-US" sz="2200" b="1" dirty="0">
                <a:solidFill>
                  <a:schemeClr val="accent1"/>
                </a:solidFill>
              </a:rPr>
              <a:t>101.2h → 64.5h</a:t>
            </a:r>
            <a:endParaRPr lang="en-US" sz="2200" dirty="0"/>
          </a:p>
        </p:txBody>
      </p:sp>
      <p:sp>
        <p:nvSpPr>
          <p:cNvPr id="6" name="Text 3"/>
          <p:cNvSpPr txBox="1"/>
          <p:nvPr/>
        </p:nvSpPr>
        <p:spPr>
          <a:xfrm>
            <a:off x="6172200" y="1664208"/>
            <a:ext cx="2377440" cy="411480"/>
          </a:xfrm>
          <a:prstGeom prst="rect">
            <a:avLst/>
          </a:prstGeom>
          <a:noFill/>
          <a:ln/>
        </p:spPr>
        <p:txBody>
          <a:bodyPr wrap="square" lIns="0" tIns="0" rIns="0" bIns="0" rtlCol="0" anchor="t"/>
          <a:lstStyle/>
          <a:p>
            <a:pPr indent="0" marL="0">
              <a:buNone/>
            </a:pPr>
            <a:r>
              <a:rPr lang="en-US" sz="1100" dirty="0">
                <a:solidFill>
                  <a:schemeClr val="tx1"/>
                </a:solidFill>
              </a:rPr>
              <a:t>Before 회의 첫 언급 → After Agent 확정 (6건 평균)</a:t>
            </a:r>
            <a:endParaRPr lang="en-US" sz="1100" dirty="0"/>
          </a:p>
        </p:txBody>
      </p:sp>
      <p:sp>
        <p:nvSpPr>
          <p:cNvPr id="7" name="stat-1"/>
          <p:cNvSpPr/>
          <p:nvPr/>
        </p:nvSpPr>
        <p:spPr>
          <a:xfrm>
            <a:off x="5989320" y="2313432"/>
            <a:ext cx="2697480" cy="1051560"/>
          </a:xfrm>
          <a:prstGeom prst="roundRect">
            <a:avLst>
              <a:gd name="adj" fmla="val 6957"/>
            </a:avLst>
          </a:prstGeom>
          <a:solidFill>
            <a:schemeClr val="bg2"/>
          </a:solidFill>
          <a:ln w="12700">
            <a:solidFill>
              <a:schemeClr val="bg2"/>
            </a:solidFill>
            <a:prstDash val="solid"/>
          </a:ln>
        </p:spPr>
      </p:sp>
      <p:sp>
        <p:nvSpPr>
          <p:cNvPr id="8" name="Text 5"/>
          <p:cNvSpPr txBox="1"/>
          <p:nvPr/>
        </p:nvSpPr>
        <p:spPr>
          <a:xfrm>
            <a:off x="6172200" y="2423160"/>
            <a:ext cx="2377440" cy="457200"/>
          </a:xfrm>
          <a:prstGeom prst="rect">
            <a:avLst/>
          </a:prstGeom>
          <a:noFill/>
          <a:ln/>
        </p:spPr>
        <p:txBody>
          <a:bodyPr wrap="square" lIns="0" tIns="0" rIns="0" bIns="0" rtlCol="0" anchor="t"/>
          <a:lstStyle/>
          <a:p>
            <a:pPr indent="0" marL="0">
              <a:buNone/>
            </a:pPr>
            <a:r>
              <a:rPr lang="en-US" sz="2200" b="1" dirty="0">
                <a:solidFill>
                  <a:schemeClr val="accent1"/>
                </a:solidFill>
              </a:rPr>
              <a:t>6 / 6</a:t>
            </a:r>
            <a:endParaRPr lang="en-US" sz="2200" dirty="0"/>
          </a:p>
        </p:txBody>
      </p:sp>
      <p:sp>
        <p:nvSpPr>
          <p:cNvPr id="9" name="Text 6"/>
          <p:cNvSpPr txBox="1"/>
          <p:nvPr/>
        </p:nvSpPr>
        <p:spPr>
          <a:xfrm>
            <a:off x="6172200" y="2880360"/>
            <a:ext cx="2377440" cy="411480"/>
          </a:xfrm>
          <a:prstGeom prst="rect">
            <a:avLst/>
          </a:prstGeom>
          <a:noFill/>
          <a:ln/>
        </p:spPr>
        <p:txBody>
          <a:bodyPr wrap="square" lIns="0" tIns="0" rIns="0" bIns="0" rtlCol="0" anchor="t"/>
          <a:lstStyle/>
          <a:p>
            <a:pPr indent="0" marL="0">
              <a:buNone/>
            </a:pPr>
            <a:r>
              <a:rPr lang="en-US" sz="1100" dirty="0">
                <a:solidFill>
                  <a:schemeClr val="tx1"/>
                </a:solidFill>
              </a:rPr>
              <a:t>회의와 함께 찾은 업무 막힘은 모두 회의보다 먼저 확정</a:t>
            </a:r>
            <a:endParaRPr lang="en-US" sz="1100" dirty="0"/>
          </a:p>
        </p:txBody>
      </p:sp>
      <p:sp>
        <p:nvSpPr>
          <p:cNvPr id="10" name="stat-2"/>
          <p:cNvSpPr/>
          <p:nvPr/>
        </p:nvSpPr>
        <p:spPr>
          <a:xfrm>
            <a:off x="5989320" y="3529584"/>
            <a:ext cx="2697480" cy="1051560"/>
          </a:xfrm>
          <a:prstGeom prst="roundRect">
            <a:avLst>
              <a:gd name="adj" fmla="val 6957"/>
            </a:avLst>
          </a:prstGeom>
          <a:solidFill>
            <a:schemeClr val="bg2"/>
          </a:solidFill>
          <a:ln w="12700">
            <a:solidFill>
              <a:schemeClr val="bg2"/>
            </a:solidFill>
            <a:prstDash val="solid"/>
          </a:ln>
        </p:spPr>
      </p:sp>
      <p:sp>
        <p:nvSpPr>
          <p:cNvPr id="11" name="Text 8"/>
          <p:cNvSpPr txBox="1"/>
          <p:nvPr/>
        </p:nvSpPr>
        <p:spPr>
          <a:xfrm>
            <a:off x="6172200" y="3639312"/>
            <a:ext cx="2377440" cy="457200"/>
          </a:xfrm>
          <a:prstGeom prst="rect">
            <a:avLst/>
          </a:prstGeom>
          <a:noFill/>
          <a:ln/>
        </p:spPr>
        <p:txBody>
          <a:bodyPr wrap="square" lIns="0" tIns="0" rIns="0" bIns="0" rtlCol="0" anchor="t"/>
          <a:lstStyle/>
          <a:p>
            <a:pPr indent="0" marL="0">
              <a:buNone/>
            </a:pPr>
            <a:r>
              <a:rPr lang="en-US" sz="2200" b="1" dirty="0">
                <a:solidFill>
                  <a:schemeClr val="accent1"/>
                </a:solidFill>
              </a:rPr>
              <a:t>211건 · 25회</a:t>
            </a:r>
            <a:endParaRPr lang="en-US" sz="2200" dirty="0"/>
          </a:p>
        </p:txBody>
      </p:sp>
      <p:sp>
        <p:nvSpPr>
          <p:cNvPr id="12" name="Text 9"/>
          <p:cNvSpPr txBox="1"/>
          <p:nvPr/>
        </p:nvSpPr>
        <p:spPr>
          <a:xfrm>
            <a:off x="6172200" y="4096512"/>
            <a:ext cx="2377440" cy="411480"/>
          </a:xfrm>
          <a:prstGeom prst="rect">
            <a:avLst/>
          </a:prstGeom>
          <a:noFill/>
          <a:ln/>
        </p:spPr>
        <p:txBody>
          <a:bodyPr wrap="square" lIns="0" tIns="0" rIns="0" bIns="0" rtlCol="0" anchor="t"/>
          <a:lstStyle/>
          <a:p>
            <a:pPr indent="0" marL="0">
              <a:buNone/>
            </a:pPr>
            <a:r>
              <a:rPr lang="en-US" sz="1100" dirty="0">
                <a:solidFill>
                  <a:schemeClr val="tx1"/>
                </a:solidFill>
              </a:rPr>
              <a:t>Agent가 관찰한 공개 기록 · 담당자 확인 질문</a:t>
            </a:r>
            <a:endParaRPr lang="en-US" sz="1100" dirty="0"/>
          </a:p>
        </p:txBody>
      </p:sp>
      <p:sp>
        <p:nvSpPr>
          <p:cNvPr id="13" name="Text 10"/>
          <p:cNvSpPr txBox="1"/>
          <p:nvPr/>
        </p:nvSpPr>
        <p:spPr>
          <a:xfrm>
            <a:off x="365760" y="4773168"/>
            <a:ext cx="7863840" cy="274320"/>
          </a:xfrm>
          <a:prstGeom prst="rect">
            <a:avLst/>
          </a:prstGeom>
          <a:noFill/>
          <a:ln/>
        </p:spPr>
        <p:txBody>
          <a:bodyPr wrap="square" lIns="0" tIns="0" rIns="0" bIns="0" rtlCol="0" anchor="t"/>
          <a:lstStyle/>
          <a:p>
            <a:pPr indent="0" marL="0">
              <a:buNone/>
            </a:pPr>
            <a:r>
              <a:rPr lang="en-US" sz="900" dirty="0">
                <a:solidFill>
                  <a:schemeClr val="accent3"/>
                </a:solidFill>
              </a:rPr>
              <a:t>P002 synthetic replay · LLM 해석기 · Memory OFF 기준. 회의 시점은 팀이 데이터에서 지정한 값이며, 실제 업무시간·생산성 측정이 아님</a:t>
            </a:r>
            <a:endParaRPr lang="en-US" sz="9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LLM 답장 해석으로 판단이 정확해졌다</a:t>
            </a:r>
            <a:endParaRPr lang="en-US" sz="2600" dirty="0"/>
          </a:p>
        </p:txBody>
      </p:sp>
      <p:graphicFrame>
        <p:nvGraphicFramePr>
          <p:cNvPr id="3" name="rule-llm-chart" descr=""/>
          <p:cNvGraphicFramePr/>
          <p:nvPr/>
        </p:nvGraphicFramePr>
        <p:xfrm>
          <a:off x="365760" y="1005840"/>
          <a:ext cx="4572000" cy="3749040"/>
        </p:xfrm>
        <a:graphic xmlns:a="http://schemas.openxmlformats.org/drawingml/2006/main">
          <a:graphicData uri="http://schemas.openxmlformats.org/drawingml/2006/chart">
            <c:chart xmlns:c="http://schemas.openxmlformats.org/drawingml/2006/chart" r:id="rId1"/>
          </a:graphicData>
        </a:graphic>
      </p:graphicFrame>
      <p:sp>
        <p:nvSpPr>
          <p:cNvPr id="4" name="ex-0"/>
          <p:cNvSpPr/>
          <p:nvPr/>
        </p:nvSpPr>
        <p:spPr>
          <a:xfrm>
            <a:off x="5166360" y="1051560"/>
            <a:ext cx="3520440" cy="1051560"/>
          </a:xfrm>
          <a:prstGeom prst="roundRect">
            <a:avLst>
              <a:gd name="adj" fmla="val 6957"/>
            </a:avLst>
          </a:prstGeom>
          <a:solidFill>
            <a:schemeClr val="bg2"/>
          </a:solidFill>
          <a:ln w="12700">
            <a:solidFill>
              <a:schemeClr val="bg2"/>
            </a:solidFill>
            <a:prstDash val="solid"/>
          </a:ln>
        </p:spPr>
      </p:sp>
      <p:sp>
        <p:nvSpPr>
          <p:cNvPr id="5" name="Text 2"/>
          <p:cNvSpPr txBox="1"/>
          <p:nvPr/>
        </p:nvSpPr>
        <p:spPr>
          <a:xfrm>
            <a:off x="5303520" y="1124712"/>
            <a:ext cx="3291840" cy="365760"/>
          </a:xfrm>
          <a:prstGeom prst="rect">
            <a:avLst/>
          </a:prstGeom>
          <a:noFill/>
          <a:ln/>
        </p:spPr>
        <p:txBody>
          <a:bodyPr wrap="square" lIns="0" tIns="0" rIns="0" bIns="0" rtlCol="0" anchor="t"/>
          <a:lstStyle/>
          <a:p>
            <a:pPr indent="0" marL="0">
              <a:buNone/>
            </a:pPr>
            <a:r>
              <a:rPr lang="en-US" sz="1200" b="1" dirty="0">
                <a:solidFill>
                  <a:schemeClr val="tx2"/>
                </a:solidFill>
              </a:rPr>
              <a:t>“남은 미해결 이슈는 0건이에요”</a:t>
            </a:r>
            <a:endParaRPr lang="en-US" sz="1200" dirty="0"/>
          </a:p>
        </p:txBody>
      </p:sp>
      <p:sp>
        <p:nvSpPr>
          <p:cNvPr id="6" name="Text 3"/>
          <p:cNvSpPr txBox="1"/>
          <p:nvPr/>
        </p:nvSpPr>
        <p:spPr>
          <a:xfrm>
            <a:off x="5303520" y="1490472"/>
            <a:ext cx="3291840" cy="274320"/>
          </a:xfrm>
          <a:prstGeom prst="rect">
            <a:avLst/>
          </a:prstGeom>
          <a:noFill/>
          <a:ln/>
        </p:spPr>
        <p:txBody>
          <a:bodyPr wrap="square" lIns="0" tIns="0" rIns="0" bIns="0" rtlCol="0" anchor="t"/>
          <a:lstStyle/>
          <a:p>
            <a:pPr indent="0" marL="0">
              <a:buNone/>
            </a:pPr>
            <a:r>
              <a:rPr lang="en-US" sz="1100" dirty="0">
                <a:solidFill>
                  <a:schemeClr val="accent4"/>
                </a:solidFill>
              </a:rPr>
              <a:t>규칙: 막힘 (‘0건’ 키워드)</a:t>
            </a:r>
            <a:endParaRPr lang="en-US" sz="1100" dirty="0"/>
          </a:p>
        </p:txBody>
      </p:sp>
      <p:sp>
        <p:nvSpPr>
          <p:cNvPr id="7" name="Text 4"/>
          <p:cNvSpPr txBox="1"/>
          <p:nvPr/>
        </p:nvSpPr>
        <p:spPr>
          <a:xfrm>
            <a:off x="5303520" y="1764792"/>
            <a:ext cx="3291840" cy="274320"/>
          </a:xfrm>
          <a:prstGeom prst="rect">
            <a:avLst/>
          </a:prstGeom>
          <a:noFill/>
          <a:ln/>
        </p:spPr>
        <p:txBody>
          <a:bodyPr wrap="square" lIns="0" tIns="0" rIns="0" bIns="0" rtlCol="0" anchor="t"/>
          <a:lstStyle/>
          <a:p>
            <a:pPr indent="0" marL="0">
              <a:buNone/>
            </a:pPr>
            <a:r>
              <a:rPr lang="en-US" sz="1100" b="1" dirty="0">
                <a:solidFill>
                  <a:schemeClr val="accent2"/>
                </a:solidFill>
              </a:rPr>
              <a:t>LLM: 정상 진행</a:t>
            </a:r>
            <a:endParaRPr lang="en-US" sz="1100" dirty="0"/>
          </a:p>
        </p:txBody>
      </p:sp>
      <p:sp>
        <p:nvSpPr>
          <p:cNvPr id="8" name="ex-1"/>
          <p:cNvSpPr/>
          <p:nvPr/>
        </p:nvSpPr>
        <p:spPr>
          <a:xfrm>
            <a:off x="5166360" y="2240280"/>
            <a:ext cx="3520440"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5303520" y="2313432"/>
            <a:ext cx="3291840" cy="365760"/>
          </a:xfrm>
          <a:prstGeom prst="rect">
            <a:avLst/>
          </a:prstGeom>
          <a:noFill/>
          <a:ln/>
        </p:spPr>
        <p:txBody>
          <a:bodyPr wrap="square" lIns="0" tIns="0" rIns="0" bIns="0" rtlCol="0" anchor="t"/>
          <a:lstStyle/>
          <a:p>
            <a:pPr indent="0" marL="0">
              <a:buNone/>
            </a:pPr>
            <a:r>
              <a:rPr lang="en-US" sz="1200" b="1" dirty="0">
                <a:solidFill>
                  <a:schemeClr val="tx2"/>
                </a:solidFill>
              </a:rPr>
              <a:t>“문제 없을 줄 알았는데… 멈춰 있어요”</a:t>
            </a:r>
            <a:endParaRPr lang="en-US" sz="1200" dirty="0"/>
          </a:p>
        </p:txBody>
      </p:sp>
      <p:sp>
        <p:nvSpPr>
          <p:cNvPr id="10" name="Text 7"/>
          <p:cNvSpPr txBox="1"/>
          <p:nvPr/>
        </p:nvSpPr>
        <p:spPr>
          <a:xfrm>
            <a:off x="5303520" y="2679192"/>
            <a:ext cx="3291840" cy="274320"/>
          </a:xfrm>
          <a:prstGeom prst="rect">
            <a:avLst/>
          </a:prstGeom>
          <a:noFill/>
          <a:ln/>
        </p:spPr>
        <p:txBody>
          <a:bodyPr wrap="square" lIns="0" tIns="0" rIns="0" bIns="0" rtlCol="0" anchor="t"/>
          <a:lstStyle/>
          <a:p>
            <a:pPr indent="0" marL="0">
              <a:buNone/>
            </a:pPr>
            <a:r>
              <a:rPr lang="en-US" sz="1100" dirty="0">
                <a:solidFill>
                  <a:schemeClr val="accent4"/>
                </a:solidFill>
              </a:rPr>
              <a:t>규칙: 정상 (‘문제 없’ 키워드)</a:t>
            </a:r>
            <a:endParaRPr lang="en-US" sz="1100" dirty="0"/>
          </a:p>
        </p:txBody>
      </p:sp>
      <p:sp>
        <p:nvSpPr>
          <p:cNvPr id="11" name="Text 8"/>
          <p:cNvSpPr txBox="1"/>
          <p:nvPr/>
        </p:nvSpPr>
        <p:spPr>
          <a:xfrm>
            <a:off x="5303520" y="2953512"/>
            <a:ext cx="3291840" cy="274320"/>
          </a:xfrm>
          <a:prstGeom prst="rect">
            <a:avLst/>
          </a:prstGeom>
          <a:noFill/>
          <a:ln/>
        </p:spPr>
        <p:txBody>
          <a:bodyPr wrap="square" lIns="0" tIns="0" rIns="0" bIns="0" rtlCol="0" anchor="t"/>
          <a:lstStyle/>
          <a:p>
            <a:pPr indent="0" marL="0">
              <a:buNone/>
            </a:pPr>
            <a:r>
              <a:rPr lang="en-US" sz="1100" b="1" dirty="0">
                <a:solidFill>
                  <a:schemeClr val="accent2"/>
                </a:solidFill>
              </a:rPr>
              <a:t>LLM: 막힘·내부 문제</a:t>
            </a:r>
            <a:endParaRPr lang="en-US" sz="1100" dirty="0"/>
          </a:p>
        </p:txBody>
      </p:sp>
      <p:sp>
        <p:nvSpPr>
          <p:cNvPr id="12" name="ex-2"/>
          <p:cNvSpPr/>
          <p:nvPr/>
        </p:nvSpPr>
        <p:spPr>
          <a:xfrm>
            <a:off x="5166360" y="3429000"/>
            <a:ext cx="3520440" cy="1051560"/>
          </a:xfrm>
          <a:prstGeom prst="roundRect">
            <a:avLst>
              <a:gd name="adj" fmla="val 6957"/>
            </a:avLst>
          </a:prstGeom>
          <a:solidFill>
            <a:schemeClr val="bg2"/>
          </a:solidFill>
          <a:ln w="12700">
            <a:solidFill>
              <a:schemeClr val="bg2"/>
            </a:solidFill>
            <a:prstDash val="solid"/>
          </a:ln>
        </p:spPr>
      </p:sp>
      <p:sp>
        <p:nvSpPr>
          <p:cNvPr id="13" name="Text 10"/>
          <p:cNvSpPr txBox="1"/>
          <p:nvPr/>
        </p:nvSpPr>
        <p:spPr>
          <a:xfrm>
            <a:off x="5303520" y="3502152"/>
            <a:ext cx="3291840" cy="365760"/>
          </a:xfrm>
          <a:prstGeom prst="rect">
            <a:avLst/>
          </a:prstGeom>
          <a:noFill/>
          <a:ln/>
        </p:spPr>
        <p:txBody>
          <a:bodyPr wrap="square" lIns="0" tIns="0" rIns="0" bIns="0" rtlCol="0" anchor="t"/>
          <a:lstStyle/>
          <a:p>
            <a:pPr indent="0" marL="0">
              <a:buNone/>
            </a:pPr>
            <a:r>
              <a:rPr lang="en-US" sz="1200" b="1" dirty="0">
                <a:solidFill>
                  <a:schemeClr val="tx2"/>
                </a:solidFill>
              </a:rPr>
              <a:t>“막혔다기보다는요, 다른 팀 확정 대기…”</a:t>
            </a:r>
            <a:endParaRPr lang="en-US" sz="1200" dirty="0"/>
          </a:p>
        </p:txBody>
      </p:sp>
      <p:sp>
        <p:nvSpPr>
          <p:cNvPr id="14" name="Text 11"/>
          <p:cNvSpPr txBox="1"/>
          <p:nvPr/>
        </p:nvSpPr>
        <p:spPr>
          <a:xfrm>
            <a:off x="5303520" y="3867912"/>
            <a:ext cx="3291840" cy="274320"/>
          </a:xfrm>
          <a:prstGeom prst="rect">
            <a:avLst/>
          </a:prstGeom>
          <a:noFill/>
          <a:ln/>
        </p:spPr>
        <p:txBody>
          <a:bodyPr wrap="square" lIns="0" tIns="0" rIns="0" bIns="0" rtlCol="0" anchor="t"/>
          <a:lstStyle/>
          <a:p>
            <a:pPr indent="0" marL="0">
              <a:buNone/>
            </a:pPr>
            <a:r>
              <a:rPr lang="en-US" sz="1100" dirty="0">
                <a:solidFill>
                  <a:schemeClr val="accent4"/>
                </a:solidFill>
              </a:rPr>
              <a:t>규칙: 내부 문제 → 지원 제안</a:t>
            </a:r>
            <a:endParaRPr lang="en-US" sz="1100" dirty="0"/>
          </a:p>
        </p:txBody>
      </p:sp>
      <p:sp>
        <p:nvSpPr>
          <p:cNvPr id="15" name="Text 12"/>
          <p:cNvSpPr txBox="1"/>
          <p:nvPr/>
        </p:nvSpPr>
        <p:spPr>
          <a:xfrm>
            <a:off x="5303520" y="4142232"/>
            <a:ext cx="3291840" cy="274320"/>
          </a:xfrm>
          <a:prstGeom prst="rect">
            <a:avLst/>
          </a:prstGeom>
          <a:noFill/>
          <a:ln/>
        </p:spPr>
        <p:txBody>
          <a:bodyPr wrap="square" lIns="0" tIns="0" rIns="0" bIns="0" rtlCol="0" anchor="t"/>
          <a:lstStyle/>
          <a:p>
            <a:pPr indent="0" marL="0">
              <a:buNone/>
            </a:pPr>
            <a:r>
              <a:rPr lang="en-US" sz="1100" b="1" dirty="0">
                <a:solidFill>
                  <a:schemeClr val="accent2"/>
                </a:solidFill>
              </a:rPr>
              <a:t>LLM: 외부 의존 → 제안 안 함</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사람을 평가하지 않고, 한계는 숨기지 않는다</a:t>
            </a:r>
            <a:endParaRPr lang="en-US" sz="2600" dirty="0"/>
          </a:p>
        </p:txBody>
      </p:sp>
      <p:sp>
        <p:nvSpPr>
          <p:cNvPr id="3" name="col-0"/>
          <p:cNvSpPr/>
          <p:nvPr/>
        </p:nvSpPr>
        <p:spPr>
          <a:xfrm>
            <a:off x="457200" y="1097280"/>
            <a:ext cx="4023360" cy="2926080"/>
          </a:xfrm>
          <a:prstGeom prst="roundRect">
            <a:avLst>
              <a:gd name="adj" fmla="val 2500"/>
            </a:avLst>
          </a:prstGeom>
          <a:solidFill>
            <a:schemeClr val="bg2"/>
          </a:solidFill>
          <a:ln w="12700">
            <a:solidFill>
              <a:schemeClr val="bg2"/>
            </a:solidFill>
            <a:prstDash val="solid"/>
          </a:ln>
        </p:spPr>
      </p:sp>
      <p:sp>
        <p:nvSpPr>
          <p:cNvPr id="4" name="Text 2"/>
          <p:cNvSpPr txBox="1"/>
          <p:nvPr/>
        </p:nvSpPr>
        <p:spPr>
          <a:xfrm>
            <a:off x="685800" y="1234440"/>
            <a:ext cx="3566160" cy="411480"/>
          </a:xfrm>
          <a:prstGeom prst="rect">
            <a:avLst/>
          </a:prstGeom>
          <a:noFill/>
          <a:ln/>
        </p:spPr>
        <p:txBody>
          <a:bodyPr wrap="square" lIns="0" tIns="0" rIns="0" bIns="0" rtlCol="0" anchor="t"/>
          <a:lstStyle/>
          <a:p>
            <a:pPr indent="0" marL="0">
              <a:buNone/>
            </a:pPr>
            <a:r>
              <a:rPr lang="en-US" sz="1800" b="1" dirty="0">
                <a:solidFill>
                  <a:schemeClr val="accent2"/>
                </a:solidFill>
              </a:rPr>
              <a:t>안전장치</a:t>
            </a:r>
            <a:endParaRPr lang="en-US" sz="1800" dirty="0"/>
          </a:p>
        </p:txBody>
      </p:sp>
      <p:sp>
        <p:nvSpPr>
          <p:cNvPr id="5" name="Text 3"/>
          <p:cNvSpPr txBox="1"/>
          <p:nvPr/>
        </p:nvSpPr>
        <p:spPr>
          <a:xfrm>
            <a:off x="685800" y="1737360"/>
            <a:ext cx="3611880" cy="219456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점수·순위·성실도 없음, (Task, 담당자)의 상태만 판단</a:t>
            </a:r>
            <a:endParaRPr lang="en-US" sz="1400" dirty="0"/>
          </a:p>
          <a:p>
            <a:pPr marL="342900" indent="-342900">
              <a:spcAft>
                <a:spcPts val="800"/>
              </a:spcAft>
              <a:buSzPct val="100000"/>
              <a:buChar char="•"/>
            </a:pPr>
            <a:r>
              <a:rPr lang="en-US" sz="1400" dirty="0">
                <a:solidFill>
                  <a:schemeClr val="tx1"/>
                </a:solidFill>
              </a:rPr>
              <a:t>개인 DM 차단, LLM 로컬 실행으로 외부 전송 없음</a:t>
            </a:r>
            <a:endParaRPr lang="en-US" sz="1400" dirty="0"/>
          </a:p>
          <a:p>
            <a:pPr marL="342900" indent="-342900">
              <a:spcAft>
                <a:spcPts val="800"/>
              </a:spcAft>
              <a:buSzPct val="100000"/>
              <a:buChar char="•"/>
            </a:pPr>
            <a:r>
              <a:rPr lang="en-US" sz="1400" dirty="0">
                <a:solidFill>
                  <a:schemeClr val="tx1"/>
                </a:solidFill>
              </a:rPr>
              <a:t>PM 승인 없이는 어떤 개입도 실행 안 됨</a:t>
            </a:r>
            <a:endParaRPr lang="en-US" sz="1400" dirty="0"/>
          </a:p>
          <a:p>
            <a:pPr marL="342900" indent="-342900">
              <a:spcAft>
                <a:spcPts val="800"/>
              </a:spcAft>
              <a:buSzPct val="100000"/>
              <a:buChar char="•"/>
            </a:pPr>
            <a:r>
              <a:rPr lang="en-US" sz="1400" dirty="0">
                <a:solidFill>
                  <a:schemeClr val="tx1"/>
                </a:solidFill>
              </a:rPr>
              <a:t>미래 기록 차단, Memory에 사람 정보 없음</a:t>
            </a:r>
            <a:endParaRPr lang="en-US" sz="1400" dirty="0"/>
          </a:p>
        </p:txBody>
      </p:sp>
      <p:sp>
        <p:nvSpPr>
          <p:cNvPr id="6" name="col-1"/>
          <p:cNvSpPr/>
          <p:nvPr/>
        </p:nvSpPr>
        <p:spPr>
          <a:xfrm>
            <a:off x="4663440" y="1097280"/>
            <a:ext cx="4023360" cy="2926080"/>
          </a:xfrm>
          <a:prstGeom prst="roundRect">
            <a:avLst>
              <a:gd name="adj" fmla="val 2500"/>
            </a:avLst>
          </a:prstGeom>
          <a:solidFill>
            <a:schemeClr val="bg2"/>
          </a:solidFill>
          <a:ln w="12700">
            <a:solidFill>
              <a:schemeClr val="bg2"/>
            </a:solidFill>
            <a:prstDash val="solid"/>
          </a:ln>
        </p:spPr>
      </p:sp>
      <p:sp>
        <p:nvSpPr>
          <p:cNvPr id="7" name="Text 5"/>
          <p:cNvSpPr txBox="1"/>
          <p:nvPr/>
        </p:nvSpPr>
        <p:spPr>
          <a:xfrm>
            <a:off x="4892040" y="1234440"/>
            <a:ext cx="3566160" cy="411480"/>
          </a:xfrm>
          <a:prstGeom prst="rect">
            <a:avLst/>
          </a:prstGeom>
          <a:noFill/>
          <a:ln/>
        </p:spPr>
        <p:txBody>
          <a:bodyPr wrap="square" lIns="0" tIns="0" rIns="0" bIns="0" rtlCol="0" anchor="t"/>
          <a:lstStyle/>
          <a:p>
            <a:pPr indent="0" marL="0">
              <a:buNone/>
            </a:pPr>
            <a:r>
              <a:rPr lang="en-US" sz="1800" b="1" dirty="0">
                <a:solidFill>
                  <a:schemeClr val="accent4"/>
                </a:solidFill>
              </a:rPr>
              <a:t>확인된 한계</a:t>
            </a:r>
            <a:endParaRPr lang="en-US" sz="1800" dirty="0"/>
          </a:p>
        </p:txBody>
      </p:sp>
      <p:sp>
        <p:nvSpPr>
          <p:cNvPr id="8" name="Text 6"/>
          <p:cNvSpPr txBox="1"/>
          <p:nvPr/>
        </p:nvSpPr>
        <p:spPr>
          <a:xfrm>
            <a:off x="4892040" y="1737360"/>
            <a:ext cx="3611880" cy="219456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응답 없는 업무 막힘, 공동 담당자의 업무 막힘을 놓침</a:t>
            </a:r>
            <a:endParaRPr lang="en-US" sz="1400" dirty="0"/>
          </a:p>
          <a:p>
            <a:pPr marL="342900" indent="-342900">
              <a:spcAft>
                <a:spcPts val="800"/>
              </a:spcAft>
              <a:buSzPct val="100000"/>
              <a:buChar char="•"/>
            </a:pPr>
            <a:r>
              <a:rPr lang="en-US" sz="1400" dirty="0">
                <a:solidFill>
                  <a:schemeClr val="tx1"/>
                </a:solidFill>
              </a:rPr>
              <a:t>지원자 선정·해결 판정이 단어 겹침에 의존 (CASE04·CASE05)</a:t>
            </a:r>
            <a:endParaRPr lang="en-US" sz="1400" dirty="0"/>
          </a:p>
          <a:p>
            <a:pPr marL="342900" indent="-342900">
              <a:spcAft>
                <a:spcPts val="800"/>
              </a:spcAft>
              <a:buSzPct val="100000"/>
              <a:buChar char="•"/>
            </a:pPr>
            <a:r>
              <a:rPr lang="en-US" sz="1400" dirty="0">
                <a:solidFill>
                  <a:schemeClr val="tx1"/>
                </a:solidFill>
              </a:rPr>
              <a:t>Memory로 질문 25→22회, 대신 업무 막힘 1건 추가 누락</a:t>
            </a:r>
            <a:endParaRPr lang="en-US" sz="1400" dirty="0"/>
          </a:p>
          <a:p>
            <a:pPr marL="342900" indent="-342900">
              <a:spcAft>
                <a:spcPts val="800"/>
              </a:spcAft>
              <a:buSzPct val="100000"/>
              <a:buChar char="•"/>
            </a:pPr>
            <a:r>
              <a:rPr lang="en-US" sz="1400" dirty="0">
                <a:solidFill>
                  <a:schemeClr val="tx1"/>
                </a:solidFill>
              </a:rPr>
              <a:t>질문 25회 중 21회 업무시간 외 · synthetic 데이터 2개뿐</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chemeClr val="bg1"/>
                </a:solidFill>
              </a:rPr>
              <a:t>다음 단계와 비즈니스 모델</a:t>
            </a:r>
            <a:endParaRPr lang="en-US" sz="3000" dirty="0"/>
          </a:p>
        </p:txBody>
      </p:sp>
      <p:sp>
        <p:nvSpPr>
          <p:cNvPr id="3" name="road-0"/>
          <p:cNvSpPr/>
          <p:nvPr/>
        </p:nvSpPr>
        <p:spPr>
          <a:xfrm>
            <a:off x="548640" y="13258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88720" y="1280160"/>
            <a:ext cx="3291840" cy="822960"/>
          </a:xfrm>
          <a:prstGeom prst="rect">
            <a:avLst/>
          </a:prstGeom>
          <a:noFill/>
          <a:ln/>
        </p:spPr>
        <p:txBody>
          <a:bodyPr wrap="square" lIns="0" tIns="0" rIns="0" bIns="0" rtlCol="0" anchor="ctr"/>
          <a:lstStyle/>
          <a:p>
            <a:pPr indent="0" marL="0">
              <a:buNone/>
            </a:pPr>
            <a:r>
              <a:rPr lang="en-US" sz="1400" dirty="0">
                <a:solidFill>
                  <a:schemeClr val="bg1"/>
                </a:solidFill>
              </a:rPr>
              <a:t>무응답 후보 재확인·공개 채널 막힘 보고 활용·부 담당자 확인</a:t>
            </a:r>
            <a:endParaRPr lang="en-US" sz="1400" dirty="0"/>
          </a:p>
        </p:txBody>
      </p:sp>
      <p:sp>
        <p:nvSpPr>
          <p:cNvPr id="6" name="road-1"/>
          <p:cNvSpPr/>
          <p:nvPr/>
        </p:nvSpPr>
        <p:spPr>
          <a:xfrm>
            <a:off x="548640" y="23774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188720" y="2331720"/>
            <a:ext cx="3291840" cy="822960"/>
          </a:xfrm>
          <a:prstGeom prst="rect">
            <a:avLst/>
          </a:prstGeom>
          <a:noFill/>
          <a:ln/>
        </p:spPr>
        <p:txBody>
          <a:bodyPr wrap="square" lIns="0" tIns="0" rIns="0" bIns="0" rtlCol="0" anchor="ctr"/>
          <a:lstStyle/>
          <a:p>
            <a:pPr indent="0" marL="0">
              <a:buNone/>
            </a:pPr>
            <a:r>
              <a:rPr lang="en-US" sz="1400" dirty="0">
                <a:solidFill>
                  <a:schemeClr val="bg1"/>
                </a:solidFill>
              </a:rPr>
              <a:t>해결 판정·지원자 선정에도 LLM 적용, 업무시간을 고려한 질문 시각</a:t>
            </a:r>
            <a:endParaRPr lang="en-US" sz="1400" dirty="0"/>
          </a:p>
        </p:txBody>
      </p:sp>
      <p:sp>
        <p:nvSpPr>
          <p:cNvPr id="9" name="road-2"/>
          <p:cNvSpPr/>
          <p:nvPr/>
        </p:nvSpPr>
        <p:spPr>
          <a:xfrm>
            <a:off x="548640" y="34290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188720" y="3383280"/>
            <a:ext cx="3291840" cy="822960"/>
          </a:xfrm>
          <a:prstGeom prst="rect">
            <a:avLst/>
          </a:prstGeom>
          <a:noFill/>
          <a:ln/>
        </p:spPr>
        <p:txBody>
          <a:bodyPr wrap="square" lIns="0" tIns="0" rIns="0" bIns="0" rtlCol="0" anchor="ctr"/>
          <a:lstStyle/>
          <a:p>
            <a:pPr indent="0" marL="0">
              <a:buNone/>
            </a:pPr>
            <a:r>
              <a:rPr lang="en-US" sz="1400" dirty="0">
                <a:solidFill>
                  <a:schemeClr val="bg1"/>
                </a:solidFill>
              </a:rPr>
              <a:t>Slack·Jira·GitHub 연동 파일럿으로 PM 확인 시간 실측</a:t>
            </a:r>
            <a:endParaRPr lang="en-US" sz="1400" dirty="0"/>
          </a:p>
        </p:txBody>
      </p:sp>
      <p:sp>
        <p:nvSpPr>
          <p:cNvPr id="12" name="bm-0"/>
          <p:cNvSpPr/>
          <p:nvPr/>
        </p:nvSpPr>
        <p:spPr>
          <a:xfrm>
            <a:off x="4846320" y="1234440"/>
            <a:ext cx="3840480" cy="914400"/>
          </a:xfrm>
          <a:prstGeom prst="roundRect">
            <a:avLst>
              <a:gd name="adj" fmla="val 8000"/>
            </a:avLst>
          </a:prstGeom>
          <a:solidFill>
            <a:schemeClr val="accent5"/>
          </a:solidFill>
          <a:ln w="12700">
            <a:solidFill>
              <a:schemeClr val="accent5"/>
            </a:solidFill>
            <a:prstDash val="solid"/>
          </a:ln>
        </p:spPr>
      </p:sp>
      <p:sp>
        <p:nvSpPr>
          <p:cNvPr id="13" name="Text 11"/>
          <p:cNvSpPr txBox="1"/>
          <p:nvPr/>
        </p:nvSpPr>
        <p:spPr>
          <a:xfrm>
            <a:off x="5029200" y="1325880"/>
            <a:ext cx="3474720" cy="365760"/>
          </a:xfrm>
          <a:prstGeom prst="rect">
            <a:avLst/>
          </a:prstGeom>
          <a:noFill/>
          <a:ln/>
        </p:spPr>
        <p:txBody>
          <a:bodyPr wrap="square" lIns="0" tIns="0" rIns="0" bIns="0" rtlCol="0" anchor="t"/>
          <a:lstStyle/>
          <a:p>
            <a:pPr indent="0" marL="0">
              <a:buNone/>
            </a:pPr>
            <a:r>
              <a:rPr lang="en-US" sz="1600" b="1" dirty="0">
                <a:solidFill>
                  <a:schemeClr val="bg1"/>
                </a:solidFill>
              </a:rPr>
              <a:t>팀 단위 SaaS 구독</a:t>
            </a:r>
            <a:endParaRPr lang="en-US" sz="1600" dirty="0"/>
          </a:p>
        </p:txBody>
      </p:sp>
      <p:sp>
        <p:nvSpPr>
          <p:cNvPr id="14" name="Text 12"/>
          <p:cNvSpPr txBox="1"/>
          <p:nvPr/>
        </p:nvSpPr>
        <p:spPr>
          <a:xfrm>
            <a:off x="5029200" y="1691640"/>
            <a:ext cx="3474720" cy="365760"/>
          </a:xfrm>
          <a:prstGeom prst="rect">
            <a:avLst/>
          </a:prstGeom>
          <a:noFill/>
          <a:ln/>
        </p:spPr>
        <p:txBody>
          <a:bodyPr wrap="square" lIns="0" tIns="0" rIns="0" bIns="0" rtlCol="0" anchor="t"/>
          <a:lstStyle/>
          <a:p>
            <a:pPr indent="0" marL="0">
              <a:buNone/>
            </a:pPr>
            <a:r>
              <a:rPr lang="en-US" sz="1200" dirty="0">
                <a:solidFill>
                  <a:schemeClr val="bg2"/>
                </a:solidFill>
              </a:rPr>
              <a:t>향후 협업 도구 Connector 연동, 팀 규모별 요금</a:t>
            </a:r>
            <a:endParaRPr lang="en-US" sz="1200" dirty="0"/>
          </a:p>
        </p:txBody>
      </p:sp>
      <p:sp>
        <p:nvSpPr>
          <p:cNvPr id="15" name="bm-1"/>
          <p:cNvSpPr/>
          <p:nvPr/>
        </p:nvSpPr>
        <p:spPr>
          <a:xfrm>
            <a:off x="4846320" y="2286000"/>
            <a:ext cx="3840480" cy="914400"/>
          </a:xfrm>
          <a:prstGeom prst="roundRect">
            <a:avLst>
              <a:gd name="adj" fmla="val 8000"/>
            </a:avLst>
          </a:prstGeom>
          <a:solidFill>
            <a:schemeClr val="accent5"/>
          </a:solidFill>
          <a:ln w="12700">
            <a:solidFill>
              <a:schemeClr val="accent5"/>
            </a:solidFill>
            <a:prstDash val="solid"/>
          </a:ln>
        </p:spPr>
      </p:sp>
      <p:sp>
        <p:nvSpPr>
          <p:cNvPr id="16" name="Text 14"/>
          <p:cNvSpPr txBox="1"/>
          <p:nvPr/>
        </p:nvSpPr>
        <p:spPr>
          <a:xfrm>
            <a:off x="5029200" y="2377440"/>
            <a:ext cx="3474720" cy="365760"/>
          </a:xfrm>
          <a:prstGeom prst="rect">
            <a:avLst/>
          </a:prstGeom>
          <a:noFill/>
          <a:ln/>
        </p:spPr>
        <p:txBody>
          <a:bodyPr wrap="square" lIns="0" tIns="0" rIns="0" bIns="0" rtlCol="0" anchor="t"/>
          <a:lstStyle/>
          <a:p>
            <a:pPr indent="0" marL="0">
              <a:buNone/>
            </a:pPr>
            <a:r>
              <a:rPr lang="en-US" sz="1600" b="1" dirty="0">
                <a:solidFill>
                  <a:schemeClr val="bg1"/>
                </a:solidFill>
              </a:rPr>
              <a:t>온프레미스 라이선스</a:t>
            </a:r>
            <a:endParaRPr lang="en-US" sz="1600" dirty="0"/>
          </a:p>
        </p:txBody>
      </p:sp>
      <p:sp>
        <p:nvSpPr>
          <p:cNvPr id="17" name="Text 15"/>
          <p:cNvSpPr txBox="1"/>
          <p:nvPr/>
        </p:nvSpPr>
        <p:spPr>
          <a:xfrm>
            <a:off x="5029200" y="2743200"/>
            <a:ext cx="3474720" cy="365760"/>
          </a:xfrm>
          <a:prstGeom prst="rect">
            <a:avLst/>
          </a:prstGeom>
          <a:noFill/>
          <a:ln/>
        </p:spPr>
        <p:txBody>
          <a:bodyPr wrap="square" lIns="0" tIns="0" rIns="0" bIns="0" rtlCol="0" anchor="t"/>
          <a:lstStyle/>
          <a:p>
            <a:pPr indent="0" marL="0">
              <a:buNone/>
            </a:pPr>
            <a:r>
              <a:rPr lang="en-US" sz="1200" dirty="0">
                <a:solidFill>
                  <a:schemeClr val="bg2"/>
                </a:solidFill>
              </a:rPr>
              <a:t>사내 LLM으로 기록 외부 반출 없음 — 보안 민감 기업</a:t>
            </a:r>
            <a:endParaRPr lang="en-US" sz="1200" dirty="0"/>
          </a:p>
        </p:txBody>
      </p:sp>
      <p:sp>
        <p:nvSpPr>
          <p:cNvPr id="18" name="bm-2"/>
          <p:cNvSpPr/>
          <p:nvPr/>
        </p:nvSpPr>
        <p:spPr>
          <a:xfrm>
            <a:off x="4846320" y="3337560"/>
            <a:ext cx="3840480" cy="914400"/>
          </a:xfrm>
          <a:prstGeom prst="roundRect">
            <a:avLst>
              <a:gd name="adj" fmla="val 8000"/>
            </a:avLst>
          </a:prstGeom>
          <a:solidFill>
            <a:schemeClr val="accent5"/>
          </a:solidFill>
          <a:ln w="12700">
            <a:solidFill>
              <a:schemeClr val="accent5"/>
            </a:solidFill>
            <a:prstDash val="solid"/>
          </a:ln>
        </p:spPr>
      </p:sp>
      <p:sp>
        <p:nvSpPr>
          <p:cNvPr id="19" name="Text 17"/>
          <p:cNvSpPr txBox="1"/>
          <p:nvPr/>
        </p:nvSpPr>
        <p:spPr>
          <a:xfrm>
            <a:off x="5029200" y="3429000"/>
            <a:ext cx="3474720" cy="365760"/>
          </a:xfrm>
          <a:prstGeom prst="rect">
            <a:avLst/>
          </a:prstGeom>
          <a:noFill/>
          <a:ln/>
        </p:spPr>
        <p:txBody>
          <a:bodyPr wrap="square" lIns="0" tIns="0" rIns="0" bIns="0" rtlCol="0" anchor="t"/>
          <a:lstStyle/>
          <a:p>
            <a:pPr indent="0" marL="0">
              <a:buNone/>
            </a:pPr>
            <a:r>
              <a:rPr lang="en-US" sz="1600" b="1" dirty="0">
                <a:solidFill>
                  <a:schemeClr val="bg1"/>
                </a:solidFill>
              </a:rPr>
              <a:t>기대 효과 (파일럿에서 검증 예정)</a:t>
            </a:r>
            <a:endParaRPr lang="en-US" sz="1600" dirty="0"/>
          </a:p>
        </p:txBody>
      </p:sp>
      <p:sp>
        <p:nvSpPr>
          <p:cNvPr id="20" name="Text 18"/>
          <p:cNvSpPr txBox="1"/>
          <p:nvPr/>
        </p:nvSpPr>
        <p:spPr>
          <a:xfrm>
            <a:off x="5029200" y="3794760"/>
            <a:ext cx="3474720" cy="365760"/>
          </a:xfrm>
          <a:prstGeom prst="rect">
            <a:avLst/>
          </a:prstGeom>
          <a:noFill/>
          <a:ln/>
        </p:spPr>
        <p:txBody>
          <a:bodyPr wrap="square" lIns="0" tIns="0" rIns="0" bIns="0" rtlCol="0" anchor="t"/>
          <a:lstStyle/>
          <a:p>
            <a:pPr indent="0" marL="0">
              <a:buNone/>
            </a:pPr>
            <a:r>
              <a:rPr lang="en-US" sz="1200" dirty="0">
                <a:solidFill>
                  <a:schemeClr val="bg2"/>
                </a:solidFill>
              </a:rPr>
              <a:t>PM 현황 파악 부담 감소, 막힌 업무 조기 발견</a:t>
            </a:r>
            <a:endParaRPr lang="en-US" sz="1200" dirty="0"/>
          </a:p>
        </p:txBody>
      </p:sp>
      <p:sp>
        <p:nvSpPr>
          <p:cNvPr id="22" name="Text 0"/>
          <p:cNvSpPr/>
          <p:nvPr>
            <p:ph idx="100" type="title" hasCustomPrompt="1"/>
          </p:nvPr>
        </p:nvSpPr>
        <p:spPr>
          <a:xfrm>
            <a:off x="548640" y="1417320"/>
            <a:ext cx="8046720" cy="914400"/>
          </a:xfrm>
          <a:prstGeom prst="rect">
            <a:avLst/>
          </a:prstGeom>
          <a:noFill/>
          <a:ln/>
        </p:spPr>
        <p:txBody>
          <a:bodyPr wrap="square" rtlCol="0" anchor="b"/>
          <a:lstStyle/>
          <a:p>
            <a:pPr algn="l" indent="0" marL="0">
              <a:buNone/>
            </a:pPr>
            <a:endParaRPr lang="en-US" sz="4000" dirty="0"/>
          </a:p>
        </p:txBody>
      </p:sp>
      <p:sp>
        <p:nvSpPr>
          <p:cNvPr id="23" name="Text 0"/>
          <p:cNvSpPr/>
          <p:nvPr>
            <p:ph idx="101" type="body" hasCustomPrompt="1"/>
          </p:nvPr>
        </p:nvSpPr>
        <p:spPr>
          <a:xfrm>
            <a:off x="548640" y="2423160"/>
            <a:ext cx="8046720" cy="914400"/>
          </a:xfrm>
          <a:prstGeom prst="rect">
            <a:avLst/>
          </a:prstGeom>
          <a:noFill/>
          <a:ln/>
        </p:spPr>
        <p:txBody>
          <a:bodyPr wrap="square"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ContriLog">
  <a:themeElements>
    <a:clrScheme name="ContriLog">
      <a:dk1>
        <a:srgbClr val="1F2933"/>
      </a:dk1>
      <a:lt1>
        <a:srgbClr val="FFFFFF"/>
      </a:lt1>
      <a:dk2>
        <a:srgbClr val="15304B"/>
      </a:dk2>
      <a:lt2>
        <a:srgbClr val="F2F5F8"/>
      </a:lt2>
      <a:accent1>
        <a:srgbClr val="E8963A"/>
      </a:accent1>
      <a:accent2>
        <a:srgbClr val="2F7D6D"/>
      </a:accent2>
      <a:accent3>
        <a:srgbClr val="8794A3"/>
      </a:accent3>
      <a:accent4>
        <a:srgbClr val="C44536"/>
      </a:accent4>
      <a:accent5>
        <a:srgbClr val="5B7FA6"/>
      </a:accent5>
      <a:accent6>
        <a:srgbClr val="D9E2EC"/>
      </a:accent6>
      <a:hlink>
        <a:srgbClr val="2F6FAE"/>
      </a:hlink>
      <a:folHlink>
        <a:srgbClr val="6B5B95"/>
      </a:folHlink>
    </a:clrScheme>
    <a:fontScheme name="ContriLog">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ContriLog 발표자료</dc:title>
  <dc:subject>PptxGenJS Presentation</dc:subject>
  <dc:creator>PptxGenJS</dc:creator>
  <cp:lastModifiedBy>PptxGenJS</cp:lastModifiedBy>
  <cp:revision>1</cp:revision>
  <dcterms:created xsi:type="dcterms:W3CDTF">2026-10-05T12:20:51Z</dcterms:created>
  <dcterms:modified xsi:type="dcterms:W3CDTF">2026-10-05T12:20:51Z</dcterms:modified>
</cp:coreProperties>
</file>